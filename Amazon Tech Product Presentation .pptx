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6" r:id="rId2"/>
    <p:sldId id="264" r:id="rId3"/>
    <p:sldId id="268" r:id="rId4"/>
    <p:sldId id="270" r:id="rId5"/>
    <p:sldId id="269" r:id="rId6"/>
    <p:sldId id="271" r:id="rId7"/>
    <p:sldId id="272" r:id="rId8"/>
    <p:sldId id="273" r:id="rId9"/>
    <p:sldId id="277" r:id="rId10"/>
    <p:sldId id="276" r:id="rId11"/>
    <p:sldId id="275" r:id="rId12"/>
    <p:sldId id="279" r:id="rId13"/>
    <p:sldId id="278" r:id="rId14"/>
    <p:sldId id="280" r:id="rId15"/>
    <p:sldId id="274" r:id="rId16"/>
    <p:sldId id="281" r:id="rId17"/>
  </p:sldIdLst>
  <p:sldSz cx="12709525" cy="74072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33" userDrawn="1">
          <p15:clr>
            <a:srgbClr val="A4A3A4"/>
          </p15:clr>
        </p15:guide>
        <p15:guide id="2" pos="40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1ED"/>
    <a:srgbClr val="E8E8E3"/>
    <a:srgbClr val="EEECE1"/>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p:cViewPr>
        <p:scale>
          <a:sx n="80" d="100"/>
          <a:sy n="80" d="100"/>
        </p:scale>
        <p:origin x="653" y="365"/>
      </p:cViewPr>
      <p:guideLst>
        <p:guide orient="horz" pos="2333"/>
        <p:guide pos="400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10A73-9902-4E09-BF13-3D07739ED7AE}" type="datetimeFigureOut">
              <a:rPr lang="en-US" smtClean="0"/>
              <a:t>4/18/2025</a:t>
            </a:fld>
            <a:endParaRPr lang="en-US"/>
          </a:p>
        </p:txBody>
      </p:sp>
      <p:sp>
        <p:nvSpPr>
          <p:cNvPr id="4" name="Slide Image Placeholder 3"/>
          <p:cNvSpPr>
            <a:spLocks noGrp="1" noRot="1" noChangeAspect="1"/>
          </p:cNvSpPr>
          <p:nvPr>
            <p:ph type="sldImg" idx="2"/>
          </p:nvPr>
        </p:nvSpPr>
        <p:spPr>
          <a:xfrm>
            <a:off x="781050" y="1143000"/>
            <a:ext cx="52959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2806-827A-4881-82A6-862FC47ABA9C}" type="slidenum">
              <a:rPr lang="en-US" smtClean="0"/>
              <a:t>‹#›</a:t>
            </a:fld>
            <a:endParaRPr lang="en-US"/>
          </a:p>
        </p:txBody>
      </p:sp>
    </p:spTree>
    <p:extLst>
      <p:ext uri="{BB962C8B-B14F-4D97-AF65-F5344CB8AC3E}">
        <p14:creationId xmlns:p14="http://schemas.microsoft.com/office/powerpoint/2010/main" val="3517687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1050" y="1143000"/>
            <a:ext cx="52959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072806-827A-4881-82A6-862FC47ABA9C}" type="slidenum">
              <a:rPr lang="en-US" smtClean="0"/>
              <a:t>6</a:t>
            </a:fld>
            <a:endParaRPr lang="en-US"/>
          </a:p>
        </p:txBody>
      </p:sp>
    </p:spTree>
    <p:extLst>
      <p:ext uri="{BB962C8B-B14F-4D97-AF65-F5344CB8AC3E}">
        <p14:creationId xmlns:p14="http://schemas.microsoft.com/office/powerpoint/2010/main" val="1072111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53215" y="2301059"/>
            <a:ext cx="10803096" cy="1587763"/>
          </a:xfrm>
        </p:spPr>
        <p:txBody>
          <a:bodyPr/>
          <a:lstStyle/>
          <a:p>
            <a:r>
              <a:rPr lang="en-US"/>
              <a:t>Click to edit Master title style</a:t>
            </a:r>
          </a:p>
        </p:txBody>
      </p:sp>
      <p:sp>
        <p:nvSpPr>
          <p:cNvPr id="3" name="Subtitle 2"/>
          <p:cNvSpPr>
            <a:spLocks noGrp="1"/>
          </p:cNvSpPr>
          <p:nvPr>
            <p:ph type="subTitle" idx="1"/>
          </p:nvPr>
        </p:nvSpPr>
        <p:spPr>
          <a:xfrm>
            <a:off x="1906429" y="4197456"/>
            <a:ext cx="8896668" cy="189297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03965" y="4759863"/>
            <a:ext cx="10803096" cy="147116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003965" y="3139520"/>
            <a:ext cx="10803096" cy="16203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35476" y="1728367"/>
            <a:ext cx="5613374" cy="488845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60675" y="1728367"/>
            <a:ext cx="5613374" cy="488845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35477" y="1658064"/>
            <a:ext cx="5615580" cy="69100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5477" y="2349066"/>
            <a:ext cx="5615580" cy="426775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56264" y="1658064"/>
            <a:ext cx="5617786" cy="69100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6264" y="2349066"/>
            <a:ext cx="5617786" cy="426775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5477" y="294919"/>
            <a:ext cx="4181346" cy="1255122"/>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969071" y="294922"/>
            <a:ext cx="7104978" cy="632190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5477" y="1550044"/>
            <a:ext cx="4181346" cy="50667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91157" y="5185092"/>
            <a:ext cx="7625715" cy="61213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491157" y="661854"/>
            <a:ext cx="7625715" cy="44443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491157" y="5797222"/>
            <a:ext cx="7625715" cy="8693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14407" y="296637"/>
            <a:ext cx="2859643" cy="632018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35476" y="296637"/>
            <a:ext cx="8367104" cy="63201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5477" y="296634"/>
            <a:ext cx="11438573" cy="123454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35477" y="1728367"/>
            <a:ext cx="11438573" cy="4888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35476" y="6865449"/>
            <a:ext cx="2965556" cy="394369"/>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4/18/2025</a:t>
            </a:fld>
            <a:endParaRPr lang="en-US"/>
          </a:p>
        </p:txBody>
      </p:sp>
      <p:sp>
        <p:nvSpPr>
          <p:cNvPr id="5" name="Footer Placeholder 4"/>
          <p:cNvSpPr>
            <a:spLocks noGrp="1"/>
          </p:cNvSpPr>
          <p:nvPr>
            <p:ph type="ftr" sz="quarter" idx="3"/>
          </p:nvPr>
        </p:nvSpPr>
        <p:spPr>
          <a:xfrm>
            <a:off x="4342422" y="6865449"/>
            <a:ext cx="4024683" cy="39436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08493" y="6865449"/>
            <a:ext cx="2965556" cy="394369"/>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0E7EEF45-DD8B-9B21-25F9-B89C200B8A57}"/>
              </a:ext>
            </a:extLst>
          </p:cNvPr>
          <p:cNvPicPr>
            <a:picLocks noChangeAspect="1"/>
          </p:cNvPicPr>
          <p:nvPr/>
        </p:nvPicPr>
        <p:blipFill>
          <a:blip r:embed="rId2"/>
          <a:stretch>
            <a:fillRect/>
          </a:stretch>
        </p:blipFill>
        <p:spPr>
          <a:xfrm>
            <a:off x="0" y="-630619"/>
            <a:ext cx="5151120" cy="8229600"/>
          </a:xfrm>
          <a:prstGeom prst="rect">
            <a:avLst/>
          </a:prstGeom>
        </p:spPr>
      </p:pic>
      <p:sp>
        <p:nvSpPr>
          <p:cNvPr id="5" name="Text 0">
            <a:extLst>
              <a:ext uri="{FF2B5EF4-FFF2-40B4-BE49-F238E27FC236}">
                <a16:creationId xmlns:a16="http://schemas.microsoft.com/office/drawing/2014/main" id="{1054381C-81E0-8092-F164-7354E9401D2C}"/>
              </a:ext>
            </a:extLst>
          </p:cNvPr>
          <p:cNvSpPr/>
          <p:nvPr/>
        </p:nvSpPr>
        <p:spPr>
          <a:xfrm>
            <a:off x="5733947" y="1384156"/>
            <a:ext cx="6975577" cy="2406793"/>
          </a:xfrm>
          <a:prstGeom prst="rect">
            <a:avLst/>
          </a:prstGeom>
          <a:noFill/>
          <a:ln/>
        </p:spPr>
        <p:txBody>
          <a:bodyPr wrap="square" lIns="0" tIns="0" rIns="0" bIns="0" rtlCol="0" anchor="t"/>
          <a:lstStyle/>
          <a:p>
            <a:pPr>
              <a:lnSpc>
                <a:spcPts val="5550"/>
              </a:lnSpc>
            </a:pPr>
            <a:r>
              <a:rPr lang="en-US" sz="4000" dirty="0">
                <a:solidFill>
                  <a:srgbClr val="312F2B"/>
                </a:solidFill>
                <a:latin typeface="Book Antiqua" panose="02040602050305030304" pitchFamily="18" charset="0"/>
                <a:ea typeface="Gelasio" pitchFamily="34" charset="-122"/>
                <a:cs typeface="Gelasio" panose="020B0604020202020204" charset="0"/>
              </a:rPr>
              <a:t>Amazon Phone Sales Dashboard: Insights, Trends &amp; Strategy</a:t>
            </a:r>
            <a:endParaRPr lang="en-US" sz="4000" dirty="0">
              <a:latin typeface="Book Antiqua" panose="02040602050305030304" pitchFamily="18" charset="0"/>
              <a:cs typeface="Gelasio" panose="020B0604020202020204" charset="0"/>
            </a:endParaRPr>
          </a:p>
        </p:txBody>
      </p:sp>
      <p:sp>
        <p:nvSpPr>
          <p:cNvPr id="6" name="Text 1">
            <a:extLst>
              <a:ext uri="{FF2B5EF4-FFF2-40B4-BE49-F238E27FC236}">
                <a16:creationId xmlns:a16="http://schemas.microsoft.com/office/drawing/2014/main" id="{3000E3D7-645D-D42C-12FB-9DE0EC683D58}"/>
              </a:ext>
            </a:extLst>
          </p:cNvPr>
          <p:cNvSpPr/>
          <p:nvPr/>
        </p:nvSpPr>
        <p:spPr>
          <a:xfrm>
            <a:off x="5868395" y="3703637"/>
            <a:ext cx="5994105" cy="1088708"/>
          </a:xfrm>
          <a:prstGeom prst="rect">
            <a:avLst/>
          </a:prstGeom>
          <a:noFill/>
          <a:ln/>
        </p:spPr>
        <p:txBody>
          <a:bodyPr wrap="square" lIns="0" tIns="0" rIns="0" bIns="0" rtlCol="0" anchor="t"/>
          <a:lstStyle/>
          <a:p>
            <a:pPr>
              <a:lnSpc>
                <a:spcPts val="2850"/>
              </a:lnSpc>
            </a:pPr>
            <a:r>
              <a:rPr lang="en-US" sz="1750" dirty="0">
                <a:solidFill>
                  <a:srgbClr val="272525"/>
                </a:solidFill>
                <a:latin typeface="Lato" pitchFamily="34" charset="0"/>
                <a:ea typeface="Lato" pitchFamily="34" charset="-122"/>
                <a:cs typeface="Lato" pitchFamily="34" charset="-120"/>
              </a:rPr>
              <a:t>This report explores sales, pricing, and discount strategies for Amazon tech products. We highlight key metrics, badge impacts, and brand performance to guide business decisions and boost revenue.</a:t>
            </a:r>
            <a:endParaRPr lang="en-US" sz="1750" dirty="0"/>
          </a:p>
        </p:txBody>
      </p:sp>
    </p:spTree>
    <p:extLst>
      <p:ext uri="{BB962C8B-B14F-4D97-AF65-F5344CB8AC3E}">
        <p14:creationId xmlns:p14="http://schemas.microsoft.com/office/powerpoint/2010/main" val="25570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ECE4A203-E714-8B15-3485-5B50CEE8E17D}"/>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5DBACCA2-FFD6-E03B-3E73-BF32F4E570FF}"/>
              </a:ext>
            </a:extLst>
          </p:cNvPr>
          <p:cNvSpPr/>
          <p:nvPr/>
        </p:nvSpPr>
        <p:spPr>
          <a:xfrm>
            <a:off x="-785417" y="1767550"/>
            <a:ext cx="7879556" cy="596146"/>
          </a:xfrm>
          <a:prstGeom prst="rect">
            <a:avLst/>
          </a:prstGeom>
          <a:noFill/>
          <a:ln/>
        </p:spPr>
        <p:txBody>
          <a:bodyPr wrap="none" lIns="0" tIns="0" rIns="0" bIns="0" rtlCol="0" anchor="t"/>
          <a:lstStyle/>
          <a:p>
            <a:pPr algn="ctr">
              <a:lnSpc>
                <a:spcPts val="4650"/>
              </a:lnSpc>
            </a:pPr>
            <a:r>
              <a:rPr lang="en-US" sz="4800" dirty="0">
                <a:solidFill>
                  <a:srgbClr val="272525"/>
                </a:solidFill>
                <a:latin typeface="Broadway" panose="04040905080B02020502" pitchFamily="82" charset="0"/>
                <a:ea typeface="Gelasio" pitchFamily="34" charset="-122"/>
                <a:cs typeface="Gelasio" pitchFamily="34" charset="-120"/>
              </a:rPr>
              <a:t>315</a:t>
            </a:r>
            <a:endParaRPr lang="en-US" sz="4800" dirty="0">
              <a:latin typeface="Broadway" panose="04040905080B02020502" pitchFamily="82" charset="0"/>
            </a:endParaRPr>
          </a:p>
        </p:txBody>
      </p:sp>
      <p:sp>
        <p:nvSpPr>
          <p:cNvPr id="3" name="Text 2">
            <a:extLst>
              <a:ext uri="{FF2B5EF4-FFF2-40B4-BE49-F238E27FC236}">
                <a16:creationId xmlns:a16="http://schemas.microsoft.com/office/drawing/2014/main" id="{44F5414D-A5B7-ACBC-27B2-6982A9DC58E5}"/>
              </a:ext>
            </a:extLst>
          </p:cNvPr>
          <p:cNvSpPr/>
          <p:nvPr/>
        </p:nvSpPr>
        <p:spPr>
          <a:xfrm>
            <a:off x="2072919" y="2374264"/>
            <a:ext cx="2258139" cy="282297"/>
          </a:xfrm>
          <a:prstGeom prst="rect">
            <a:avLst/>
          </a:prstGeom>
          <a:noFill/>
          <a:ln/>
        </p:spPr>
        <p:txBody>
          <a:bodyPr wrap="none" lIns="0" tIns="0" rIns="0" bIns="0" rtlCol="0" anchor="t"/>
          <a:lstStyle/>
          <a:p>
            <a:pPr algn="ctr">
              <a:lnSpc>
                <a:spcPts val="2200"/>
              </a:lnSpc>
            </a:pPr>
            <a:r>
              <a:rPr lang="en-US" sz="2000" dirty="0">
                <a:solidFill>
                  <a:srgbClr val="272525"/>
                </a:solidFill>
                <a:latin typeface="Book Antiqua" panose="02040602050305030304" pitchFamily="18" charset="0"/>
                <a:ea typeface="Gelasio" pitchFamily="34" charset="-122"/>
                <a:cs typeface="Gelasio" pitchFamily="34" charset="-120"/>
              </a:rPr>
              <a:t>Total</a:t>
            </a:r>
            <a:r>
              <a:rPr lang="en-US" sz="1750" dirty="0">
                <a:solidFill>
                  <a:srgbClr val="272525"/>
                </a:solidFill>
                <a:latin typeface="Gelasio" panose="020B0604020202020204" charset="0"/>
                <a:ea typeface="Gelasio" pitchFamily="34" charset="-122"/>
                <a:cs typeface="Gelasio" panose="020B0604020202020204" charset="0"/>
              </a:rPr>
              <a:t> </a:t>
            </a:r>
            <a:r>
              <a:rPr lang="en-US" sz="2000" dirty="0">
                <a:solidFill>
                  <a:srgbClr val="272525"/>
                </a:solidFill>
                <a:latin typeface="Book Antiqua" panose="02040602050305030304" pitchFamily="18" charset="0"/>
                <a:ea typeface="Gelasio" pitchFamily="34" charset="-122"/>
                <a:cs typeface="Gelasio" pitchFamily="34" charset="-120"/>
              </a:rPr>
              <a:t>Products</a:t>
            </a:r>
          </a:p>
        </p:txBody>
      </p:sp>
      <p:sp>
        <p:nvSpPr>
          <p:cNvPr id="5" name="Text 3">
            <a:extLst>
              <a:ext uri="{FF2B5EF4-FFF2-40B4-BE49-F238E27FC236}">
                <a16:creationId xmlns:a16="http://schemas.microsoft.com/office/drawing/2014/main" id="{78CC4151-47D4-F1E7-6E5B-9ACE6F7D6013}"/>
              </a:ext>
            </a:extLst>
          </p:cNvPr>
          <p:cNvSpPr/>
          <p:nvPr/>
        </p:nvSpPr>
        <p:spPr>
          <a:xfrm>
            <a:off x="-785417" y="2809418"/>
            <a:ext cx="7879556" cy="596146"/>
          </a:xfrm>
          <a:prstGeom prst="rect">
            <a:avLst/>
          </a:prstGeom>
          <a:noFill/>
          <a:ln/>
        </p:spPr>
        <p:txBody>
          <a:bodyPr wrap="none" lIns="0" tIns="0" rIns="0" bIns="0" rtlCol="0" anchor="t"/>
          <a:lstStyle/>
          <a:p>
            <a:pPr algn="ctr">
              <a:lnSpc>
                <a:spcPts val="4650"/>
              </a:lnSpc>
            </a:pPr>
            <a:r>
              <a:rPr lang="en-US" sz="4800" dirty="0">
                <a:solidFill>
                  <a:srgbClr val="272525"/>
                </a:solidFill>
                <a:latin typeface="Broadway" panose="04040905080B02020502" pitchFamily="82" charset="0"/>
                <a:cs typeface="Gelasio" pitchFamily="34" charset="-120"/>
              </a:rPr>
              <a:t>4.08</a:t>
            </a:r>
          </a:p>
        </p:txBody>
      </p:sp>
      <p:sp>
        <p:nvSpPr>
          <p:cNvPr id="7" name="Text 4">
            <a:extLst>
              <a:ext uri="{FF2B5EF4-FFF2-40B4-BE49-F238E27FC236}">
                <a16:creationId xmlns:a16="http://schemas.microsoft.com/office/drawing/2014/main" id="{45CB6B25-E9D3-1F92-219B-0AFA8EE2751D}"/>
              </a:ext>
            </a:extLst>
          </p:cNvPr>
          <p:cNvSpPr/>
          <p:nvPr/>
        </p:nvSpPr>
        <p:spPr>
          <a:xfrm>
            <a:off x="2072919" y="3384001"/>
            <a:ext cx="2258139" cy="282297"/>
          </a:xfrm>
          <a:prstGeom prst="rect">
            <a:avLst/>
          </a:prstGeom>
          <a:noFill/>
          <a:ln/>
        </p:spPr>
        <p:txBody>
          <a:bodyPr wrap="none" lIns="0" tIns="0" rIns="0" bIns="0" rtlCol="0" anchor="t"/>
          <a:lstStyle/>
          <a:p>
            <a:pPr algn="ctr">
              <a:lnSpc>
                <a:spcPts val="2200"/>
              </a:lnSpc>
            </a:pPr>
            <a:r>
              <a:rPr lang="en-US" sz="2000" dirty="0">
                <a:solidFill>
                  <a:srgbClr val="272525"/>
                </a:solidFill>
                <a:latin typeface="Book Antiqua" panose="02040602050305030304" pitchFamily="18" charset="0"/>
                <a:ea typeface="Gelasio" pitchFamily="34" charset="-122"/>
                <a:cs typeface="Gelasio" pitchFamily="34" charset="-120"/>
              </a:rPr>
              <a:t>Avg Star Rating</a:t>
            </a:r>
            <a:endParaRPr lang="en-US" sz="2000" dirty="0">
              <a:latin typeface="Book Antiqua" panose="02040602050305030304" pitchFamily="18" charset="0"/>
            </a:endParaRPr>
          </a:p>
        </p:txBody>
      </p:sp>
      <p:sp>
        <p:nvSpPr>
          <p:cNvPr id="8" name="Text 5">
            <a:extLst>
              <a:ext uri="{FF2B5EF4-FFF2-40B4-BE49-F238E27FC236}">
                <a16:creationId xmlns:a16="http://schemas.microsoft.com/office/drawing/2014/main" id="{F82754D0-20EB-7BC8-FF00-6FC86CDAA8CA}"/>
              </a:ext>
            </a:extLst>
          </p:cNvPr>
          <p:cNvSpPr/>
          <p:nvPr/>
        </p:nvSpPr>
        <p:spPr>
          <a:xfrm>
            <a:off x="-785417" y="3942804"/>
            <a:ext cx="7879556" cy="596146"/>
          </a:xfrm>
          <a:prstGeom prst="rect">
            <a:avLst/>
          </a:prstGeom>
          <a:noFill/>
          <a:ln/>
        </p:spPr>
        <p:txBody>
          <a:bodyPr wrap="none" lIns="0" tIns="0" rIns="0" bIns="0" rtlCol="0" anchor="t"/>
          <a:lstStyle/>
          <a:p>
            <a:pPr algn="ctr">
              <a:lnSpc>
                <a:spcPts val="4650"/>
              </a:lnSpc>
            </a:pPr>
            <a:r>
              <a:rPr lang="en-US" sz="4800" dirty="0">
                <a:solidFill>
                  <a:srgbClr val="272525"/>
                </a:solidFill>
                <a:latin typeface="Broadway" panose="04040905080B02020502" pitchFamily="82" charset="0"/>
                <a:cs typeface="Gelasio" pitchFamily="34" charset="-120"/>
              </a:rPr>
              <a:t>144,300</a:t>
            </a:r>
          </a:p>
        </p:txBody>
      </p:sp>
      <p:sp>
        <p:nvSpPr>
          <p:cNvPr id="9" name="Text 6">
            <a:extLst>
              <a:ext uri="{FF2B5EF4-FFF2-40B4-BE49-F238E27FC236}">
                <a16:creationId xmlns:a16="http://schemas.microsoft.com/office/drawing/2014/main" id="{6E4FB14C-75C7-9035-DDAD-7897B874926B}"/>
              </a:ext>
            </a:extLst>
          </p:cNvPr>
          <p:cNvSpPr/>
          <p:nvPr/>
        </p:nvSpPr>
        <p:spPr>
          <a:xfrm>
            <a:off x="2072919" y="4636822"/>
            <a:ext cx="2258139" cy="282297"/>
          </a:xfrm>
          <a:prstGeom prst="rect">
            <a:avLst/>
          </a:prstGeom>
          <a:noFill/>
          <a:ln/>
        </p:spPr>
        <p:txBody>
          <a:bodyPr wrap="none" lIns="0" tIns="0" rIns="0" bIns="0" rtlCol="0" anchor="t"/>
          <a:lstStyle/>
          <a:p>
            <a:pPr algn="ctr">
              <a:lnSpc>
                <a:spcPts val="2200"/>
              </a:lnSpc>
            </a:pPr>
            <a:r>
              <a:rPr lang="en-US" sz="2000" dirty="0">
                <a:solidFill>
                  <a:srgbClr val="272525"/>
                </a:solidFill>
                <a:latin typeface="Book Antiqua" panose="02040602050305030304" pitchFamily="18" charset="0"/>
                <a:ea typeface="Gelasio" pitchFamily="34" charset="-122"/>
                <a:cs typeface="Gelasio" pitchFamily="34" charset="-120"/>
              </a:rPr>
              <a:t>Total</a:t>
            </a:r>
            <a:r>
              <a:rPr lang="en-US" sz="1750" dirty="0">
                <a:solidFill>
                  <a:srgbClr val="272525"/>
                </a:solidFill>
                <a:latin typeface="Gelasio" pitchFamily="34" charset="0"/>
                <a:ea typeface="Gelasio" pitchFamily="34" charset="-122"/>
                <a:cs typeface="Gelasio" pitchFamily="34" charset="-120"/>
              </a:rPr>
              <a:t> </a:t>
            </a:r>
            <a:r>
              <a:rPr lang="en-US" sz="2000" dirty="0">
                <a:solidFill>
                  <a:srgbClr val="272525"/>
                </a:solidFill>
                <a:latin typeface="Book Antiqua" panose="02040602050305030304" pitchFamily="18" charset="0"/>
                <a:ea typeface="Gelasio" pitchFamily="34" charset="-122"/>
                <a:cs typeface="Gelasio" pitchFamily="34" charset="-120"/>
              </a:rPr>
              <a:t>Sales</a:t>
            </a:r>
          </a:p>
        </p:txBody>
      </p:sp>
      <p:sp>
        <p:nvSpPr>
          <p:cNvPr id="10" name="Text 7">
            <a:extLst>
              <a:ext uri="{FF2B5EF4-FFF2-40B4-BE49-F238E27FC236}">
                <a16:creationId xmlns:a16="http://schemas.microsoft.com/office/drawing/2014/main" id="{0FED3112-FDDD-6406-F5F6-EA8DBDF98C4C}"/>
              </a:ext>
            </a:extLst>
          </p:cNvPr>
          <p:cNvSpPr/>
          <p:nvPr/>
        </p:nvSpPr>
        <p:spPr>
          <a:xfrm>
            <a:off x="-785417" y="5156229"/>
            <a:ext cx="7879556" cy="596146"/>
          </a:xfrm>
          <a:prstGeom prst="rect">
            <a:avLst/>
          </a:prstGeom>
          <a:noFill/>
          <a:ln/>
        </p:spPr>
        <p:txBody>
          <a:bodyPr wrap="none" lIns="0" tIns="0" rIns="0" bIns="0" rtlCol="0" anchor="t"/>
          <a:lstStyle/>
          <a:p>
            <a:pPr algn="ctr">
              <a:lnSpc>
                <a:spcPts val="4650"/>
              </a:lnSpc>
            </a:pPr>
            <a:r>
              <a:rPr lang="en-US" sz="4650" dirty="0">
                <a:solidFill>
                  <a:srgbClr val="272525"/>
                </a:solidFill>
                <a:latin typeface="Gelasio" pitchFamily="34" charset="0"/>
                <a:ea typeface="Gelasio" pitchFamily="34" charset="-122"/>
                <a:cs typeface="Gelasio" pitchFamily="34" charset="-120"/>
              </a:rPr>
              <a:t>$</a:t>
            </a:r>
            <a:r>
              <a:rPr lang="en-US" sz="4800" dirty="0">
                <a:solidFill>
                  <a:srgbClr val="272525"/>
                </a:solidFill>
                <a:latin typeface="Broadway" panose="04040905080B02020502" pitchFamily="82" charset="0"/>
                <a:cs typeface="Gelasio" pitchFamily="34" charset="-120"/>
              </a:rPr>
              <a:t>22.6M</a:t>
            </a:r>
          </a:p>
        </p:txBody>
      </p:sp>
      <p:sp>
        <p:nvSpPr>
          <p:cNvPr id="11" name="Text 8">
            <a:extLst>
              <a:ext uri="{FF2B5EF4-FFF2-40B4-BE49-F238E27FC236}">
                <a16:creationId xmlns:a16="http://schemas.microsoft.com/office/drawing/2014/main" id="{5F1E7EF8-806B-48A5-0C9E-500186274CD8}"/>
              </a:ext>
            </a:extLst>
          </p:cNvPr>
          <p:cNvSpPr/>
          <p:nvPr/>
        </p:nvSpPr>
        <p:spPr>
          <a:xfrm>
            <a:off x="2072919" y="5994085"/>
            <a:ext cx="2258139" cy="282297"/>
          </a:xfrm>
          <a:prstGeom prst="rect">
            <a:avLst/>
          </a:prstGeom>
          <a:noFill/>
          <a:ln/>
        </p:spPr>
        <p:txBody>
          <a:bodyPr wrap="none" lIns="0" tIns="0" rIns="0" bIns="0" rtlCol="0" anchor="t"/>
          <a:lstStyle/>
          <a:p>
            <a:pPr algn="ctr">
              <a:lnSpc>
                <a:spcPts val="2200"/>
              </a:lnSpc>
            </a:pPr>
            <a:r>
              <a:rPr lang="en-US" sz="2000" dirty="0">
                <a:solidFill>
                  <a:srgbClr val="272525"/>
                </a:solidFill>
                <a:latin typeface="Book Antiqua" panose="02040602050305030304" pitchFamily="18" charset="0"/>
                <a:ea typeface="Gelasio" pitchFamily="34" charset="-122"/>
                <a:cs typeface="Gelasio" pitchFamily="34" charset="-120"/>
              </a:rPr>
              <a:t>Total</a:t>
            </a:r>
            <a:r>
              <a:rPr lang="en-US" sz="1750" dirty="0">
                <a:solidFill>
                  <a:srgbClr val="272525"/>
                </a:solidFill>
                <a:latin typeface="Gelasio" pitchFamily="34" charset="0"/>
                <a:ea typeface="Gelasio" pitchFamily="34" charset="-122"/>
                <a:cs typeface="Gelasio" pitchFamily="34" charset="-120"/>
              </a:rPr>
              <a:t> </a:t>
            </a:r>
            <a:r>
              <a:rPr lang="en-US" sz="2000" dirty="0">
                <a:solidFill>
                  <a:srgbClr val="272525"/>
                </a:solidFill>
                <a:latin typeface="Book Antiqua" panose="02040602050305030304" pitchFamily="18" charset="0"/>
                <a:ea typeface="Gelasio" pitchFamily="34" charset="-122"/>
                <a:cs typeface="Gelasio" pitchFamily="34" charset="-120"/>
              </a:rPr>
              <a:t>Revenue</a:t>
            </a:r>
          </a:p>
        </p:txBody>
      </p:sp>
      <p:sp>
        <p:nvSpPr>
          <p:cNvPr id="15" name="TextBox 14">
            <a:extLst>
              <a:ext uri="{FF2B5EF4-FFF2-40B4-BE49-F238E27FC236}">
                <a16:creationId xmlns:a16="http://schemas.microsoft.com/office/drawing/2014/main" id="{51318108-6758-591F-9614-CB9083B029D1}"/>
              </a:ext>
            </a:extLst>
          </p:cNvPr>
          <p:cNvSpPr txBox="1"/>
          <p:nvPr/>
        </p:nvSpPr>
        <p:spPr>
          <a:xfrm>
            <a:off x="625475" y="724604"/>
            <a:ext cx="6696074" cy="639599"/>
          </a:xfrm>
          <a:prstGeom prst="rect">
            <a:avLst/>
          </a:prstGeom>
          <a:noFill/>
        </p:spPr>
        <p:txBody>
          <a:bodyPr wrap="square">
            <a:spAutoFit/>
          </a:bodyPr>
          <a:lstStyle/>
          <a:p>
            <a:pPr defTabSz="914400">
              <a:lnSpc>
                <a:spcPts val="4400"/>
              </a:lnSpc>
              <a:defRPr/>
            </a:pPr>
            <a:r>
              <a:rPr lang="en-US" sz="3550" dirty="0">
                <a:solidFill>
                  <a:srgbClr val="312F2B"/>
                </a:solidFill>
                <a:latin typeface="Book Antiqua" panose="02040602050305030304" pitchFamily="18" charset="0"/>
                <a:ea typeface="Gelasio" pitchFamily="34" charset="-122"/>
                <a:cs typeface="Gelasio" pitchFamily="34" charset="-120"/>
              </a:rPr>
              <a:t>Key Metrics Overview</a:t>
            </a:r>
            <a:endParaRPr lang="en-US" sz="3550" dirty="0">
              <a:solidFill>
                <a:prstClr val="black"/>
              </a:solidFill>
              <a:latin typeface="Book Antiqua" panose="02040602050305030304" pitchFamily="18" charset="0"/>
            </a:endParaRPr>
          </a:p>
        </p:txBody>
      </p:sp>
      <p:pic>
        <p:nvPicPr>
          <p:cNvPr id="16" name="Image 0" descr="preencoded.png">
            <a:extLst>
              <a:ext uri="{FF2B5EF4-FFF2-40B4-BE49-F238E27FC236}">
                <a16:creationId xmlns:a16="http://schemas.microsoft.com/office/drawing/2014/main" id="{F34D792F-A401-BE36-1A46-893A1E5B6EAE}"/>
              </a:ext>
            </a:extLst>
          </p:cNvPr>
          <p:cNvPicPr>
            <a:picLocks noChangeAspect="1"/>
          </p:cNvPicPr>
          <p:nvPr/>
        </p:nvPicPr>
        <p:blipFill>
          <a:blip r:embed="rId2"/>
          <a:stretch>
            <a:fillRect/>
          </a:stretch>
        </p:blipFill>
        <p:spPr>
          <a:xfrm>
            <a:off x="6907212" y="15260"/>
            <a:ext cx="5486400" cy="8232577"/>
          </a:xfrm>
          <a:prstGeom prst="rect">
            <a:avLst/>
          </a:prstGeom>
        </p:spPr>
      </p:pic>
    </p:spTree>
    <p:extLst>
      <p:ext uri="{BB962C8B-B14F-4D97-AF65-F5344CB8AC3E}">
        <p14:creationId xmlns:p14="http://schemas.microsoft.com/office/powerpoint/2010/main" val="385712739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D2321034-F579-67C2-950A-0309424840B7}"/>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53EAA72E-8A9E-26A9-6925-2BB131130F2F}"/>
              </a:ext>
            </a:extLst>
          </p:cNvPr>
          <p:cNvSpPr/>
          <p:nvPr/>
        </p:nvSpPr>
        <p:spPr>
          <a:xfrm>
            <a:off x="-1912343" y="1756984"/>
            <a:ext cx="7879556" cy="596147"/>
          </a:xfrm>
          <a:prstGeom prst="rect">
            <a:avLst/>
          </a:prstGeom>
          <a:noFill/>
          <a:ln/>
        </p:spPr>
        <p:txBody>
          <a:bodyPr wrap="none" lIns="0" tIns="0" rIns="0" bIns="0" rtlCol="0" anchor="t"/>
          <a:lstStyle/>
          <a:p>
            <a:pPr algn="ctr">
              <a:lnSpc>
                <a:spcPts val="4650"/>
              </a:lnSpc>
            </a:pPr>
            <a:r>
              <a:rPr lang="en-US" sz="4400" b="1" dirty="0">
                <a:solidFill>
                  <a:schemeClr val="accent2">
                    <a:lumMod val="75000"/>
                  </a:schemeClr>
                </a:solidFill>
                <a:latin typeface="Book Antiqua" panose="02040602050305030304" pitchFamily="18" charset="0"/>
                <a:ea typeface="Nirmala UI Semilight" panose="020B0402040204020203" pitchFamily="34" charset="0"/>
                <a:cs typeface="Nirmala UI Semilight" panose="020B0402040204020203" pitchFamily="34" charset="0"/>
              </a:rPr>
              <a:t>Samsung</a:t>
            </a:r>
            <a:endParaRPr lang="en-US" sz="4000" b="1" dirty="0">
              <a:solidFill>
                <a:schemeClr val="accent2">
                  <a:lumMod val="75000"/>
                </a:schemeClr>
              </a:solidFill>
              <a:latin typeface="Book Antiqua" panose="02040602050305030304" pitchFamily="18" charset="0"/>
              <a:ea typeface="Nirmala UI Semilight" panose="020B0402040204020203" pitchFamily="34" charset="0"/>
              <a:cs typeface="Nirmala UI Semilight" panose="020B0402040204020203" pitchFamily="34" charset="0"/>
            </a:endParaRPr>
          </a:p>
          <a:p>
            <a:pPr algn="ctr">
              <a:lnSpc>
                <a:spcPts val="4650"/>
              </a:lnSpc>
            </a:pPr>
            <a:endParaRPr lang="en-US" sz="4800" b="1" dirty="0"/>
          </a:p>
          <a:p>
            <a:pPr algn="ctr">
              <a:lnSpc>
                <a:spcPts val="4650"/>
              </a:lnSpc>
            </a:pPr>
            <a:endParaRPr lang="en-US" sz="4800" dirty="0">
              <a:latin typeface="Broadway" panose="04040905080B02020502" pitchFamily="82" charset="0"/>
            </a:endParaRPr>
          </a:p>
        </p:txBody>
      </p:sp>
      <p:sp>
        <p:nvSpPr>
          <p:cNvPr id="3" name="Text 2">
            <a:extLst>
              <a:ext uri="{FF2B5EF4-FFF2-40B4-BE49-F238E27FC236}">
                <a16:creationId xmlns:a16="http://schemas.microsoft.com/office/drawing/2014/main" id="{89533C7E-CF21-DAED-8FB7-2FEE36C82860}"/>
              </a:ext>
            </a:extLst>
          </p:cNvPr>
          <p:cNvSpPr/>
          <p:nvPr/>
        </p:nvSpPr>
        <p:spPr>
          <a:xfrm>
            <a:off x="1611790" y="2426562"/>
            <a:ext cx="2181939" cy="203076"/>
          </a:xfrm>
          <a:prstGeom prst="rect">
            <a:avLst/>
          </a:prstGeom>
          <a:noFill/>
          <a:ln/>
        </p:spPr>
        <p:txBody>
          <a:bodyPr wrap="none" lIns="0" tIns="0" rIns="0" bIns="0" rtlCol="0" anchor="t"/>
          <a:lstStyle/>
          <a:p>
            <a:pPr algn="ctr">
              <a:lnSpc>
                <a:spcPts val="2200"/>
              </a:lnSpc>
            </a:pPr>
            <a:r>
              <a:rPr lang="en-US" sz="1750" dirty="0">
                <a:solidFill>
                  <a:srgbClr val="272525"/>
                </a:solidFill>
                <a:latin typeface="Gelasio" panose="020B0604020202020204" charset="0"/>
                <a:ea typeface="Gelasio" pitchFamily="34" charset="-122"/>
                <a:cs typeface="Gelasio" panose="020B0604020202020204" charset="0"/>
              </a:rPr>
              <a:t>Leads with $10.25M revenue</a:t>
            </a:r>
          </a:p>
        </p:txBody>
      </p:sp>
      <p:sp>
        <p:nvSpPr>
          <p:cNvPr id="5" name="Text 3">
            <a:extLst>
              <a:ext uri="{FF2B5EF4-FFF2-40B4-BE49-F238E27FC236}">
                <a16:creationId xmlns:a16="http://schemas.microsoft.com/office/drawing/2014/main" id="{30C746E6-67B7-F803-5402-50912DCD878B}"/>
              </a:ext>
            </a:extLst>
          </p:cNvPr>
          <p:cNvSpPr/>
          <p:nvPr/>
        </p:nvSpPr>
        <p:spPr>
          <a:xfrm>
            <a:off x="-1693268" y="2670555"/>
            <a:ext cx="7879556" cy="596146"/>
          </a:xfrm>
          <a:prstGeom prst="rect">
            <a:avLst/>
          </a:prstGeom>
          <a:noFill/>
          <a:ln/>
        </p:spPr>
        <p:txBody>
          <a:bodyPr wrap="none" lIns="0" tIns="0" rIns="0" bIns="0" rtlCol="0" anchor="t"/>
          <a:lstStyle/>
          <a:p>
            <a:pPr algn="ctr">
              <a:lnSpc>
                <a:spcPts val="4650"/>
              </a:lnSpc>
            </a:pPr>
            <a:r>
              <a:rPr lang="en-US" sz="4000" dirty="0">
                <a:solidFill>
                  <a:schemeClr val="tx1">
                    <a:lumMod val="85000"/>
                    <a:lumOff val="15000"/>
                  </a:schemeClr>
                </a:solidFill>
                <a:latin typeface="Book Antiqua" panose="02040602050305030304" pitchFamily="18" charset="0"/>
                <a:ea typeface="Nirmala UI Semilight" panose="020B0402040204020203" pitchFamily="34" charset="0"/>
                <a:cs typeface="Nirmala UI Semilight" panose="020B0402040204020203" pitchFamily="34" charset="0"/>
              </a:rPr>
              <a:t>Other</a:t>
            </a:r>
            <a:r>
              <a:rPr lang="en-US" sz="4000" dirty="0"/>
              <a:t> </a:t>
            </a:r>
            <a:r>
              <a:rPr lang="en-US" sz="4000" dirty="0">
                <a:solidFill>
                  <a:schemeClr val="tx1">
                    <a:lumMod val="85000"/>
                    <a:lumOff val="15000"/>
                  </a:schemeClr>
                </a:solidFill>
                <a:latin typeface="Book Antiqua" panose="02040602050305030304" pitchFamily="18" charset="0"/>
                <a:ea typeface="Nirmala UI Semilight" panose="020B0402040204020203" pitchFamily="34" charset="0"/>
                <a:cs typeface="Nirmala UI Semilight" panose="020B0402040204020203" pitchFamily="34" charset="0"/>
              </a:rPr>
              <a:t>Brands</a:t>
            </a:r>
          </a:p>
          <a:p>
            <a:pPr algn="ctr">
              <a:lnSpc>
                <a:spcPts val="4650"/>
              </a:lnSpc>
            </a:pPr>
            <a:endParaRPr lang="en-US" sz="4800" dirty="0">
              <a:solidFill>
                <a:srgbClr val="272525"/>
              </a:solidFill>
              <a:latin typeface="Broadway" panose="04040905080B02020502" pitchFamily="82" charset="0"/>
              <a:cs typeface="Gelasio" pitchFamily="34" charset="-120"/>
            </a:endParaRPr>
          </a:p>
        </p:txBody>
      </p:sp>
      <p:sp>
        <p:nvSpPr>
          <p:cNvPr id="7" name="Text 4">
            <a:extLst>
              <a:ext uri="{FF2B5EF4-FFF2-40B4-BE49-F238E27FC236}">
                <a16:creationId xmlns:a16="http://schemas.microsoft.com/office/drawing/2014/main" id="{00745DCE-6300-0FB9-29C3-AC0C119509C1}"/>
              </a:ext>
            </a:extLst>
          </p:cNvPr>
          <p:cNvSpPr/>
          <p:nvPr/>
        </p:nvSpPr>
        <p:spPr>
          <a:xfrm>
            <a:off x="1573690" y="3266703"/>
            <a:ext cx="2258139" cy="282297"/>
          </a:xfrm>
          <a:prstGeom prst="rect">
            <a:avLst/>
          </a:prstGeom>
          <a:noFill/>
          <a:ln/>
        </p:spPr>
        <p:txBody>
          <a:bodyPr wrap="none" lIns="0" tIns="0" rIns="0" bIns="0" rtlCol="0" anchor="t"/>
          <a:lstStyle/>
          <a:p>
            <a:pPr algn="ctr">
              <a:lnSpc>
                <a:spcPts val="2200"/>
              </a:lnSpc>
            </a:pPr>
            <a:r>
              <a:rPr lang="en-US" sz="1750" dirty="0">
                <a:solidFill>
                  <a:srgbClr val="272525"/>
                </a:solidFill>
                <a:latin typeface="Gelasio" pitchFamily="34" charset="0"/>
                <a:ea typeface="Gelasio" pitchFamily="34" charset="-122"/>
                <a:cs typeface="Gelasio" pitchFamily="34" charset="-120"/>
              </a:rPr>
              <a:t>$7.89M revenue</a:t>
            </a:r>
          </a:p>
        </p:txBody>
      </p:sp>
      <p:sp>
        <p:nvSpPr>
          <p:cNvPr id="8" name="Text 5">
            <a:extLst>
              <a:ext uri="{FF2B5EF4-FFF2-40B4-BE49-F238E27FC236}">
                <a16:creationId xmlns:a16="http://schemas.microsoft.com/office/drawing/2014/main" id="{68A5D715-3584-6ECC-093E-02B44474B121}"/>
              </a:ext>
            </a:extLst>
          </p:cNvPr>
          <p:cNvSpPr/>
          <p:nvPr/>
        </p:nvSpPr>
        <p:spPr>
          <a:xfrm>
            <a:off x="-1912343" y="3584127"/>
            <a:ext cx="7879556" cy="694016"/>
          </a:xfrm>
          <a:prstGeom prst="rect">
            <a:avLst/>
          </a:prstGeom>
          <a:noFill/>
          <a:ln/>
        </p:spPr>
        <p:txBody>
          <a:bodyPr wrap="none" lIns="0" tIns="0" rIns="0" bIns="0" rtlCol="0" anchor="t"/>
          <a:lstStyle/>
          <a:p>
            <a:pPr algn="ctr">
              <a:lnSpc>
                <a:spcPts val="4650"/>
              </a:lnSpc>
            </a:pPr>
            <a:r>
              <a:rPr lang="en-US" sz="4000" dirty="0">
                <a:solidFill>
                  <a:srgbClr val="272525"/>
                </a:solidFill>
                <a:latin typeface="Book Antiqua" panose="02040602050305030304" pitchFamily="18" charset="0"/>
                <a:cs typeface="Gelasio" pitchFamily="34" charset="-120"/>
              </a:rPr>
              <a:t>Google</a:t>
            </a:r>
          </a:p>
        </p:txBody>
      </p:sp>
      <p:sp>
        <p:nvSpPr>
          <p:cNvPr id="9" name="Text 6">
            <a:extLst>
              <a:ext uri="{FF2B5EF4-FFF2-40B4-BE49-F238E27FC236}">
                <a16:creationId xmlns:a16="http://schemas.microsoft.com/office/drawing/2014/main" id="{D485FC32-6F3B-23E4-1BC9-BB304379D7E1}"/>
              </a:ext>
            </a:extLst>
          </p:cNvPr>
          <p:cNvSpPr/>
          <p:nvPr/>
        </p:nvSpPr>
        <p:spPr>
          <a:xfrm>
            <a:off x="1573689" y="4213534"/>
            <a:ext cx="2258139" cy="282297"/>
          </a:xfrm>
          <a:prstGeom prst="rect">
            <a:avLst/>
          </a:prstGeom>
          <a:noFill/>
          <a:ln/>
        </p:spPr>
        <p:txBody>
          <a:bodyPr wrap="none" lIns="0" tIns="0" rIns="0" bIns="0" rtlCol="0" anchor="t"/>
          <a:lstStyle/>
          <a:p>
            <a:pPr algn="ctr">
              <a:lnSpc>
                <a:spcPts val="2200"/>
              </a:lnSpc>
            </a:pPr>
            <a:r>
              <a:rPr lang="en-US" sz="1750" dirty="0">
                <a:solidFill>
                  <a:srgbClr val="272525"/>
                </a:solidFill>
                <a:latin typeface="Gelasio" pitchFamily="34" charset="0"/>
                <a:ea typeface="Gelasio" pitchFamily="34" charset="-122"/>
                <a:cs typeface="Gelasio" pitchFamily="34" charset="-120"/>
              </a:rPr>
              <a:t>$1.63M revenue</a:t>
            </a:r>
          </a:p>
        </p:txBody>
      </p:sp>
      <p:sp>
        <p:nvSpPr>
          <p:cNvPr id="10" name="Text 7">
            <a:extLst>
              <a:ext uri="{FF2B5EF4-FFF2-40B4-BE49-F238E27FC236}">
                <a16:creationId xmlns:a16="http://schemas.microsoft.com/office/drawing/2014/main" id="{5D6A40CB-70A2-9920-EF02-8AFBBFDFF390}"/>
              </a:ext>
            </a:extLst>
          </p:cNvPr>
          <p:cNvSpPr/>
          <p:nvPr/>
        </p:nvSpPr>
        <p:spPr>
          <a:xfrm>
            <a:off x="-1912343" y="4595569"/>
            <a:ext cx="7879556" cy="596146"/>
          </a:xfrm>
          <a:prstGeom prst="rect">
            <a:avLst/>
          </a:prstGeom>
          <a:noFill/>
          <a:ln/>
        </p:spPr>
        <p:txBody>
          <a:bodyPr wrap="none" lIns="0" tIns="0" rIns="0" bIns="0" rtlCol="0" anchor="t"/>
          <a:lstStyle/>
          <a:p>
            <a:pPr algn="ctr">
              <a:lnSpc>
                <a:spcPts val="4650"/>
              </a:lnSpc>
            </a:pPr>
            <a:r>
              <a:rPr lang="en-US" sz="4000" dirty="0">
                <a:solidFill>
                  <a:srgbClr val="272525"/>
                </a:solidFill>
                <a:latin typeface="Book Antiqua" panose="02040602050305030304" pitchFamily="18" charset="0"/>
                <a:ea typeface="Gelasio" pitchFamily="34" charset="-122"/>
                <a:cs typeface="Gelasio" pitchFamily="34" charset="-120"/>
              </a:rPr>
              <a:t>Motorola</a:t>
            </a:r>
            <a:endParaRPr lang="en-US" sz="4800" dirty="0">
              <a:solidFill>
                <a:srgbClr val="272525"/>
              </a:solidFill>
              <a:latin typeface="Book Antiqua" panose="02040602050305030304" pitchFamily="18" charset="0"/>
              <a:cs typeface="Gelasio" pitchFamily="34" charset="-120"/>
            </a:endParaRPr>
          </a:p>
        </p:txBody>
      </p:sp>
      <p:sp>
        <p:nvSpPr>
          <p:cNvPr id="11" name="Text 8">
            <a:extLst>
              <a:ext uri="{FF2B5EF4-FFF2-40B4-BE49-F238E27FC236}">
                <a16:creationId xmlns:a16="http://schemas.microsoft.com/office/drawing/2014/main" id="{20DD17CE-10AF-337D-1156-ACA766E27560}"/>
              </a:ext>
            </a:extLst>
          </p:cNvPr>
          <p:cNvSpPr/>
          <p:nvPr/>
        </p:nvSpPr>
        <p:spPr>
          <a:xfrm>
            <a:off x="1535590" y="5268163"/>
            <a:ext cx="2258139" cy="282297"/>
          </a:xfrm>
          <a:prstGeom prst="rect">
            <a:avLst/>
          </a:prstGeom>
          <a:noFill/>
          <a:ln/>
        </p:spPr>
        <p:txBody>
          <a:bodyPr wrap="none" lIns="0" tIns="0" rIns="0" bIns="0" rtlCol="0" anchor="t"/>
          <a:lstStyle/>
          <a:p>
            <a:pPr algn="ctr">
              <a:lnSpc>
                <a:spcPts val="2200"/>
              </a:lnSpc>
            </a:pPr>
            <a:r>
              <a:rPr lang="en-US" sz="1750" dirty="0">
                <a:solidFill>
                  <a:srgbClr val="272525"/>
                </a:solidFill>
                <a:latin typeface="Gelasio" pitchFamily="34" charset="0"/>
                <a:ea typeface="Gelasio" pitchFamily="34" charset="-122"/>
                <a:cs typeface="Gelasio" pitchFamily="34" charset="-120"/>
              </a:rPr>
              <a:t>$1.35M revenue</a:t>
            </a:r>
          </a:p>
        </p:txBody>
      </p:sp>
      <p:sp>
        <p:nvSpPr>
          <p:cNvPr id="15" name="TextBox 14">
            <a:extLst>
              <a:ext uri="{FF2B5EF4-FFF2-40B4-BE49-F238E27FC236}">
                <a16:creationId xmlns:a16="http://schemas.microsoft.com/office/drawing/2014/main" id="{91D3BA9F-3900-07B0-AC4B-7988CA3ADE30}"/>
              </a:ext>
            </a:extLst>
          </p:cNvPr>
          <p:cNvSpPr txBox="1"/>
          <p:nvPr/>
        </p:nvSpPr>
        <p:spPr>
          <a:xfrm>
            <a:off x="625475" y="724604"/>
            <a:ext cx="6696074" cy="639599"/>
          </a:xfrm>
          <a:prstGeom prst="rect">
            <a:avLst/>
          </a:prstGeom>
          <a:noFill/>
        </p:spPr>
        <p:txBody>
          <a:bodyPr wrap="square">
            <a:spAutoFit/>
          </a:bodyPr>
          <a:lstStyle/>
          <a:p>
            <a:pPr defTabSz="914400">
              <a:lnSpc>
                <a:spcPts val="4400"/>
              </a:lnSpc>
              <a:defRPr/>
            </a:pPr>
            <a:r>
              <a:rPr lang="en-US" sz="3550" dirty="0">
                <a:solidFill>
                  <a:srgbClr val="312F2B"/>
                </a:solidFill>
                <a:latin typeface="Book Antiqua" panose="02040602050305030304" pitchFamily="18" charset="0"/>
                <a:ea typeface="Gelasio" pitchFamily="34" charset="-122"/>
                <a:cs typeface="Gelasio" pitchFamily="34" charset="-120"/>
              </a:rPr>
              <a:t>Brand Performance Insights</a:t>
            </a:r>
          </a:p>
        </p:txBody>
      </p:sp>
      <p:pic>
        <p:nvPicPr>
          <p:cNvPr id="20" name="Picture 19" descr="A graph of sales and revenue&#10;&#10;AI-generated content may be incorrect.">
            <a:extLst>
              <a:ext uri="{FF2B5EF4-FFF2-40B4-BE49-F238E27FC236}">
                <a16:creationId xmlns:a16="http://schemas.microsoft.com/office/drawing/2014/main" id="{3338D953-5A4A-2D18-87D8-C0D472722940}"/>
              </a:ext>
              <a:ext uri="{C183D7F6-B498-43B3-948B-1728B52AA6E4}">
                <adec:decorative xmlns:adec="http://schemas.microsoft.com/office/drawing/2017/decorative" val="0"/>
              </a:ext>
            </a:extLst>
          </p:cNvPr>
          <p:cNvPicPr>
            <a:picLocks noChangeAspect="1"/>
          </p:cNvPicPr>
          <p:nvPr/>
        </p:nvPicPr>
        <p:blipFill>
          <a:blip r:embed="rId2"/>
          <a:srcRect l="1712" t="4721" r="-1712" b="241"/>
          <a:stretch/>
        </p:blipFill>
        <p:spPr>
          <a:xfrm>
            <a:off x="8586471" y="4278145"/>
            <a:ext cx="3864293" cy="2831453"/>
          </a:xfrm>
          <a:prstGeom prst="rect">
            <a:avLst/>
          </a:prstGeom>
        </p:spPr>
      </p:pic>
      <p:pic>
        <p:nvPicPr>
          <p:cNvPr id="21" name="Picture 20" descr="A graph of a product&#10;&#10;AI-generated content may be incorrect.">
            <a:extLst>
              <a:ext uri="{FF2B5EF4-FFF2-40B4-BE49-F238E27FC236}">
                <a16:creationId xmlns:a16="http://schemas.microsoft.com/office/drawing/2014/main" id="{9E94BFAC-A27D-18E5-CABD-4B51A54592DB}"/>
              </a:ext>
            </a:extLst>
          </p:cNvPr>
          <p:cNvPicPr>
            <a:picLocks noChangeAspect="1"/>
          </p:cNvPicPr>
          <p:nvPr/>
        </p:nvPicPr>
        <p:blipFill>
          <a:blip r:embed="rId3"/>
          <a:srcRect l="2215" r="1991" b="2828"/>
          <a:stretch/>
        </p:blipFill>
        <p:spPr>
          <a:xfrm>
            <a:off x="8097839" y="1639909"/>
            <a:ext cx="4352925" cy="2638234"/>
          </a:xfrm>
          <a:prstGeom prst="rect">
            <a:avLst/>
          </a:prstGeom>
        </p:spPr>
      </p:pic>
    </p:spTree>
    <p:extLst>
      <p:ext uri="{BB962C8B-B14F-4D97-AF65-F5344CB8AC3E}">
        <p14:creationId xmlns:p14="http://schemas.microsoft.com/office/powerpoint/2010/main" val="38208404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fade">
                                      <p:cBhvr>
                                        <p:cTn id="7" dur="250"/>
                                        <p:tgtEl>
                                          <p:spTgt spid="2">
                                            <p:bg/>
                                          </p:spTgt>
                                        </p:tgtEl>
                                      </p:cBhvr>
                                    </p:animEffect>
                                    <p:anim calcmode="lin" valueType="num">
                                      <p:cBhvr>
                                        <p:cTn id="8" dur="250" fill="hold"/>
                                        <p:tgtEl>
                                          <p:spTgt spid="2">
                                            <p:bg/>
                                          </p:spTgt>
                                        </p:tgtEl>
                                        <p:attrNameLst>
                                          <p:attrName>ppt_x</p:attrName>
                                        </p:attrNameLst>
                                      </p:cBhvr>
                                      <p:tavLst>
                                        <p:tav tm="0">
                                          <p:val>
                                            <p:strVal val="#ppt_x"/>
                                          </p:val>
                                        </p:tav>
                                        <p:tav tm="100000">
                                          <p:val>
                                            <p:strVal val="#ppt_x"/>
                                          </p:val>
                                        </p:tav>
                                      </p:tavLst>
                                    </p:anim>
                                    <p:anim calcmode="lin" valueType="num">
                                      <p:cBhvr>
                                        <p:cTn id="9" dur="250" fill="hold"/>
                                        <p:tgtEl>
                                          <p:spTgt spid="2">
                                            <p:bg/>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250"/>
                                        <p:tgtEl>
                                          <p:spTgt spid="2">
                                            <p:txEl>
                                              <p:pRg st="0" end="0"/>
                                            </p:txEl>
                                          </p:spTgt>
                                        </p:tgtEl>
                                      </p:cBhvr>
                                    </p:animEffect>
                                    <p:anim calcmode="lin" valueType="num">
                                      <p:cBhvr>
                                        <p:cTn id="13" dur="25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4" dur="25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250"/>
                            </p:stCondLst>
                            <p:childTnLst>
                              <p:par>
                                <p:cTn id="16" presetID="42"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250"/>
                                        <p:tgtEl>
                                          <p:spTgt spid="5"/>
                                        </p:tgtEl>
                                      </p:cBhvr>
                                    </p:animEffect>
                                    <p:anim calcmode="lin" valueType="num">
                                      <p:cBhvr>
                                        <p:cTn id="25" dur="250" fill="hold"/>
                                        <p:tgtEl>
                                          <p:spTgt spid="5"/>
                                        </p:tgtEl>
                                        <p:attrNameLst>
                                          <p:attrName>ppt_x</p:attrName>
                                        </p:attrNameLst>
                                      </p:cBhvr>
                                      <p:tavLst>
                                        <p:tav tm="0">
                                          <p:val>
                                            <p:strVal val="#ppt_x"/>
                                          </p:val>
                                        </p:tav>
                                        <p:tav tm="100000">
                                          <p:val>
                                            <p:strVal val="#ppt_x"/>
                                          </p:val>
                                        </p:tav>
                                      </p:tavLst>
                                    </p:anim>
                                    <p:anim calcmode="lin" valueType="num">
                                      <p:cBhvr>
                                        <p:cTn id="26" dur="2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750"/>
                            </p:stCondLst>
                            <p:childTnLst>
                              <p:par>
                                <p:cTn id="28" presetID="42" presetClass="entr" presetSubtype="0"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250"/>
                                        <p:tgtEl>
                                          <p:spTgt spid="7"/>
                                        </p:tgtEl>
                                      </p:cBhvr>
                                    </p:animEffect>
                                    <p:anim calcmode="lin" valueType="num">
                                      <p:cBhvr>
                                        <p:cTn id="31" dur="250" fill="hold"/>
                                        <p:tgtEl>
                                          <p:spTgt spid="7"/>
                                        </p:tgtEl>
                                        <p:attrNameLst>
                                          <p:attrName>ppt_x</p:attrName>
                                        </p:attrNameLst>
                                      </p:cBhvr>
                                      <p:tavLst>
                                        <p:tav tm="0">
                                          <p:val>
                                            <p:strVal val="#ppt_x"/>
                                          </p:val>
                                        </p:tav>
                                        <p:tav tm="100000">
                                          <p:val>
                                            <p:strVal val="#ppt_x"/>
                                          </p:val>
                                        </p:tav>
                                      </p:tavLst>
                                    </p:anim>
                                    <p:anim calcmode="lin" valueType="num">
                                      <p:cBhvr>
                                        <p:cTn id="32" dur="250" fill="hold"/>
                                        <p:tgtEl>
                                          <p:spTgt spid="7"/>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42"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250"/>
                                        <p:tgtEl>
                                          <p:spTgt spid="8"/>
                                        </p:tgtEl>
                                      </p:cBhvr>
                                    </p:animEffect>
                                    <p:anim calcmode="lin" valueType="num">
                                      <p:cBhvr>
                                        <p:cTn id="37" dur="250" fill="hold"/>
                                        <p:tgtEl>
                                          <p:spTgt spid="8"/>
                                        </p:tgtEl>
                                        <p:attrNameLst>
                                          <p:attrName>ppt_x</p:attrName>
                                        </p:attrNameLst>
                                      </p:cBhvr>
                                      <p:tavLst>
                                        <p:tav tm="0">
                                          <p:val>
                                            <p:strVal val="#ppt_x"/>
                                          </p:val>
                                        </p:tav>
                                        <p:tav tm="100000">
                                          <p:val>
                                            <p:strVal val="#ppt_x"/>
                                          </p:val>
                                        </p:tav>
                                      </p:tavLst>
                                    </p:anim>
                                    <p:anim calcmode="lin" valueType="num">
                                      <p:cBhvr>
                                        <p:cTn id="38" dur="250" fill="hold"/>
                                        <p:tgtEl>
                                          <p:spTgt spid="8"/>
                                        </p:tgtEl>
                                        <p:attrNameLst>
                                          <p:attrName>ppt_y</p:attrName>
                                        </p:attrNameLst>
                                      </p:cBhvr>
                                      <p:tavLst>
                                        <p:tav tm="0">
                                          <p:val>
                                            <p:strVal val="#ppt_y+.1"/>
                                          </p:val>
                                        </p:tav>
                                        <p:tav tm="100000">
                                          <p:val>
                                            <p:strVal val="#ppt_y"/>
                                          </p:val>
                                        </p:tav>
                                      </p:tavLst>
                                    </p:anim>
                                  </p:childTnLst>
                                </p:cTn>
                              </p:par>
                            </p:childTnLst>
                          </p:cTn>
                        </p:par>
                        <p:par>
                          <p:cTn id="39" fill="hold">
                            <p:stCondLst>
                              <p:cond delay="1250"/>
                            </p:stCondLst>
                            <p:childTnLst>
                              <p:par>
                                <p:cTn id="40" presetID="42" presetClass="entr" presetSubtype="0"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50"/>
                                        <p:tgtEl>
                                          <p:spTgt spid="9"/>
                                        </p:tgtEl>
                                      </p:cBhvr>
                                    </p:animEffect>
                                    <p:anim calcmode="lin" valueType="num">
                                      <p:cBhvr>
                                        <p:cTn id="43" dur="250" fill="hold"/>
                                        <p:tgtEl>
                                          <p:spTgt spid="9"/>
                                        </p:tgtEl>
                                        <p:attrNameLst>
                                          <p:attrName>ppt_x</p:attrName>
                                        </p:attrNameLst>
                                      </p:cBhvr>
                                      <p:tavLst>
                                        <p:tav tm="0">
                                          <p:val>
                                            <p:strVal val="#ppt_x"/>
                                          </p:val>
                                        </p:tav>
                                        <p:tav tm="100000">
                                          <p:val>
                                            <p:strVal val="#ppt_x"/>
                                          </p:val>
                                        </p:tav>
                                      </p:tavLst>
                                    </p:anim>
                                    <p:anim calcmode="lin" valueType="num">
                                      <p:cBhvr>
                                        <p:cTn id="44" dur="250" fill="hold"/>
                                        <p:tgtEl>
                                          <p:spTgt spid="9"/>
                                        </p:tgtEl>
                                        <p:attrNameLst>
                                          <p:attrName>ppt_y</p:attrName>
                                        </p:attrNameLst>
                                      </p:cBhvr>
                                      <p:tavLst>
                                        <p:tav tm="0">
                                          <p:val>
                                            <p:strVal val="#ppt_y+.1"/>
                                          </p:val>
                                        </p:tav>
                                        <p:tav tm="100000">
                                          <p:val>
                                            <p:strVal val="#ppt_y"/>
                                          </p:val>
                                        </p:tav>
                                      </p:tavLst>
                                    </p:anim>
                                  </p:childTnLst>
                                </p:cTn>
                              </p:par>
                            </p:childTnLst>
                          </p:cTn>
                        </p:par>
                        <p:par>
                          <p:cTn id="45" fill="hold">
                            <p:stCondLst>
                              <p:cond delay="1500"/>
                            </p:stCondLst>
                            <p:childTnLst>
                              <p:par>
                                <p:cTn id="46" presetID="42" presetClass="entr" presetSubtype="0"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250"/>
                                        <p:tgtEl>
                                          <p:spTgt spid="10"/>
                                        </p:tgtEl>
                                      </p:cBhvr>
                                    </p:animEffect>
                                    <p:anim calcmode="lin" valueType="num">
                                      <p:cBhvr>
                                        <p:cTn id="49" dur="250" fill="hold"/>
                                        <p:tgtEl>
                                          <p:spTgt spid="10"/>
                                        </p:tgtEl>
                                        <p:attrNameLst>
                                          <p:attrName>ppt_x</p:attrName>
                                        </p:attrNameLst>
                                      </p:cBhvr>
                                      <p:tavLst>
                                        <p:tav tm="0">
                                          <p:val>
                                            <p:strVal val="#ppt_x"/>
                                          </p:val>
                                        </p:tav>
                                        <p:tav tm="100000">
                                          <p:val>
                                            <p:strVal val="#ppt_x"/>
                                          </p:val>
                                        </p:tav>
                                      </p:tavLst>
                                    </p:anim>
                                    <p:anim calcmode="lin" valueType="num">
                                      <p:cBhvr>
                                        <p:cTn id="50" dur="250" fill="hold"/>
                                        <p:tgtEl>
                                          <p:spTgt spid="10"/>
                                        </p:tgtEl>
                                        <p:attrNameLst>
                                          <p:attrName>ppt_y</p:attrName>
                                        </p:attrNameLst>
                                      </p:cBhvr>
                                      <p:tavLst>
                                        <p:tav tm="0">
                                          <p:val>
                                            <p:strVal val="#ppt_y+.1"/>
                                          </p:val>
                                        </p:tav>
                                        <p:tav tm="100000">
                                          <p:val>
                                            <p:strVal val="#ppt_y"/>
                                          </p:val>
                                        </p:tav>
                                      </p:tavLst>
                                    </p:anim>
                                  </p:childTnLst>
                                </p:cTn>
                              </p:par>
                            </p:childTnLst>
                          </p:cTn>
                        </p:par>
                        <p:par>
                          <p:cTn id="51" fill="hold">
                            <p:stCondLst>
                              <p:cond delay="1750"/>
                            </p:stCondLst>
                            <p:childTnLst>
                              <p:par>
                                <p:cTn id="52" presetID="42" presetClass="entr" presetSubtype="0" fill="hold" grpId="0" nodeType="after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250"/>
                                        <p:tgtEl>
                                          <p:spTgt spid="11"/>
                                        </p:tgtEl>
                                      </p:cBhvr>
                                    </p:animEffect>
                                    <p:anim calcmode="lin" valueType="num">
                                      <p:cBhvr>
                                        <p:cTn id="55" dur="250" fill="hold"/>
                                        <p:tgtEl>
                                          <p:spTgt spid="11"/>
                                        </p:tgtEl>
                                        <p:attrNameLst>
                                          <p:attrName>ppt_x</p:attrName>
                                        </p:attrNameLst>
                                      </p:cBhvr>
                                      <p:tavLst>
                                        <p:tav tm="0">
                                          <p:val>
                                            <p:strVal val="#ppt_x"/>
                                          </p:val>
                                        </p:tav>
                                        <p:tav tm="100000">
                                          <p:val>
                                            <p:strVal val="#ppt_x"/>
                                          </p:val>
                                        </p:tav>
                                      </p:tavLst>
                                    </p:anim>
                                    <p:anim calcmode="lin" valueType="num">
                                      <p:cBhvr>
                                        <p:cTn id="56" dur="250" fill="hold"/>
                                        <p:tgtEl>
                                          <p:spTgt spid="11"/>
                                        </p:tgtEl>
                                        <p:attrNameLst>
                                          <p:attrName>ppt_y</p:attrName>
                                        </p:attrNameLst>
                                      </p:cBhvr>
                                      <p:tavLst>
                                        <p:tav tm="0">
                                          <p:val>
                                            <p:strVal val="#ppt_y+.1"/>
                                          </p:val>
                                        </p:tav>
                                        <p:tav tm="100000">
                                          <p:val>
                                            <p:strVal val="#ppt_y"/>
                                          </p:val>
                                        </p:tav>
                                      </p:tavLst>
                                    </p:anim>
                                  </p:childTnLst>
                                </p:cTn>
                              </p:par>
                            </p:childTnLst>
                          </p:cTn>
                        </p:par>
                        <p:par>
                          <p:cTn id="57" fill="hold">
                            <p:stCondLst>
                              <p:cond delay="2000"/>
                            </p:stCondLst>
                            <p:childTnLst>
                              <p:par>
                                <p:cTn id="58" presetID="42" presetClass="entr" presetSubtype="0" fill="hold"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250"/>
                                        <p:tgtEl>
                                          <p:spTgt spid="21"/>
                                        </p:tgtEl>
                                      </p:cBhvr>
                                    </p:animEffect>
                                    <p:anim calcmode="lin" valueType="num">
                                      <p:cBhvr>
                                        <p:cTn id="61" dur="250" fill="hold"/>
                                        <p:tgtEl>
                                          <p:spTgt spid="21"/>
                                        </p:tgtEl>
                                        <p:attrNameLst>
                                          <p:attrName>ppt_x</p:attrName>
                                        </p:attrNameLst>
                                      </p:cBhvr>
                                      <p:tavLst>
                                        <p:tav tm="0">
                                          <p:val>
                                            <p:strVal val="#ppt_x"/>
                                          </p:val>
                                        </p:tav>
                                        <p:tav tm="100000">
                                          <p:val>
                                            <p:strVal val="#ppt_x"/>
                                          </p:val>
                                        </p:tav>
                                      </p:tavLst>
                                    </p:anim>
                                    <p:anim calcmode="lin" valueType="num">
                                      <p:cBhvr>
                                        <p:cTn id="62" dur="250" fill="hold"/>
                                        <p:tgtEl>
                                          <p:spTgt spid="21"/>
                                        </p:tgtEl>
                                        <p:attrNameLst>
                                          <p:attrName>ppt_y</p:attrName>
                                        </p:attrNameLst>
                                      </p:cBhvr>
                                      <p:tavLst>
                                        <p:tav tm="0">
                                          <p:val>
                                            <p:strVal val="#ppt_y+.1"/>
                                          </p:val>
                                        </p:tav>
                                        <p:tav tm="100000">
                                          <p:val>
                                            <p:strVal val="#ppt_y"/>
                                          </p:val>
                                        </p:tav>
                                      </p:tavLst>
                                    </p:anim>
                                  </p:childTnLst>
                                </p:cTn>
                              </p:par>
                            </p:childTnLst>
                          </p:cTn>
                        </p:par>
                        <p:par>
                          <p:cTn id="63" fill="hold">
                            <p:stCondLst>
                              <p:cond delay="2250"/>
                            </p:stCondLst>
                            <p:childTnLst>
                              <p:par>
                                <p:cTn id="64" presetID="42" presetClass="entr" presetSubtype="0" fill="hold" nodeType="after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250"/>
                                        <p:tgtEl>
                                          <p:spTgt spid="20"/>
                                        </p:tgtEl>
                                      </p:cBhvr>
                                    </p:animEffect>
                                    <p:anim calcmode="lin" valueType="num">
                                      <p:cBhvr>
                                        <p:cTn id="67" dur="250" fill="hold"/>
                                        <p:tgtEl>
                                          <p:spTgt spid="20"/>
                                        </p:tgtEl>
                                        <p:attrNameLst>
                                          <p:attrName>ppt_x</p:attrName>
                                        </p:attrNameLst>
                                      </p:cBhvr>
                                      <p:tavLst>
                                        <p:tav tm="0">
                                          <p:val>
                                            <p:strVal val="#ppt_x"/>
                                          </p:val>
                                        </p:tav>
                                        <p:tav tm="100000">
                                          <p:val>
                                            <p:strVal val="#ppt_x"/>
                                          </p:val>
                                        </p:tav>
                                      </p:tavLst>
                                    </p:anim>
                                    <p:anim calcmode="lin" valueType="num">
                                      <p:cBhvr>
                                        <p:cTn id="68" dur="25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animBg="1"/>
      <p:bldP spid="3" grpId="0" animBg="1"/>
      <p:bldP spid="5" grpId="0" animBg="1"/>
      <p:bldP spid="7" grpId="0" animBg="1"/>
      <p:bldP spid="8"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F588C332-4CAD-C070-3CCC-ACFAFE6C405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B5888979-25C5-1B50-87FA-7A84B37AF9C0}"/>
              </a:ext>
            </a:extLst>
          </p:cNvPr>
          <p:cNvSpPr/>
          <p:nvPr/>
        </p:nvSpPr>
        <p:spPr>
          <a:xfrm>
            <a:off x="-1912343" y="1756984"/>
            <a:ext cx="7879556" cy="596147"/>
          </a:xfrm>
          <a:prstGeom prst="rect">
            <a:avLst/>
          </a:prstGeom>
          <a:noFill/>
          <a:ln/>
        </p:spPr>
        <p:txBody>
          <a:bodyPr wrap="none" lIns="0" tIns="0" rIns="0" bIns="0" rtlCol="0" anchor="t"/>
          <a:lstStyle/>
          <a:p>
            <a:pPr algn="ctr">
              <a:lnSpc>
                <a:spcPts val="4650"/>
              </a:lnSpc>
            </a:pPr>
            <a:r>
              <a:rPr lang="en-US" sz="4400" b="1" dirty="0">
                <a:solidFill>
                  <a:schemeClr val="accent2">
                    <a:lumMod val="75000"/>
                  </a:schemeClr>
                </a:solidFill>
                <a:latin typeface="Book Antiqua" panose="02040602050305030304" pitchFamily="18" charset="0"/>
                <a:ea typeface="Nirmala UI Semilight" panose="020B0402040204020203" pitchFamily="34" charset="0"/>
                <a:cs typeface="Nirmala UI Semilight" panose="020B0402040204020203" pitchFamily="34" charset="0"/>
              </a:rPr>
              <a:t>Samsung</a:t>
            </a:r>
            <a:endParaRPr lang="en-US" sz="4000" b="1" dirty="0">
              <a:solidFill>
                <a:schemeClr val="accent2">
                  <a:lumMod val="75000"/>
                </a:schemeClr>
              </a:solidFill>
              <a:latin typeface="Book Antiqua" panose="02040602050305030304" pitchFamily="18" charset="0"/>
              <a:ea typeface="Nirmala UI Semilight" panose="020B0402040204020203" pitchFamily="34" charset="0"/>
              <a:cs typeface="Nirmala UI Semilight" panose="020B0402040204020203" pitchFamily="34" charset="0"/>
            </a:endParaRPr>
          </a:p>
        </p:txBody>
      </p:sp>
      <p:sp>
        <p:nvSpPr>
          <p:cNvPr id="3" name="Text 2">
            <a:extLst>
              <a:ext uri="{FF2B5EF4-FFF2-40B4-BE49-F238E27FC236}">
                <a16:creationId xmlns:a16="http://schemas.microsoft.com/office/drawing/2014/main" id="{590A603C-BC96-4F18-8746-DB33990CF13D}"/>
              </a:ext>
            </a:extLst>
          </p:cNvPr>
          <p:cNvSpPr/>
          <p:nvPr/>
        </p:nvSpPr>
        <p:spPr>
          <a:xfrm>
            <a:off x="430213" y="2426563"/>
            <a:ext cx="6696073" cy="2831453"/>
          </a:xfrm>
          <a:prstGeom prst="rect">
            <a:avLst/>
          </a:prstGeom>
          <a:noFill/>
          <a:ln/>
        </p:spPr>
        <p:txBody>
          <a:bodyPr wrap="none" lIns="0" tIns="0" rIns="0" bIns="0" rtlCol="0" anchor="t"/>
          <a:lstStyle/>
          <a:p>
            <a:pPr marL="342900" indent="-342900">
              <a:lnSpc>
                <a:spcPct val="150000"/>
              </a:lnSpc>
              <a:buFont typeface="Arial" panose="020B0604020202020204" pitchFamily="34" charset="0"/>
              <a:buChar char="•"/>
            </a:pPr>
            <a:r>
              <a:rPr lang="en-US" sz="2000" dirty="0">
                <a:solidFill>
                  <a:srgbClr val="272525"/>
                </a:solidFill>
                <a:ea typeface="Gelasio" pitchFamily="34" charset="-122"/>
                <a:cs typeface="Gelasio" panose="020B0604020202020204" charset="0"/>
              </a:rPr>
              <a:t>Leads with $10.25M revenue</a:t>
            </a:r>
          </a:p>
          <a:p>
            <a:pPr marL="342900" indent="-342900">
              <a:lnSpc>
                <a:spcPct val="150000"/>
              </a:lnSpc>
              <a:buFont typeface="Arial" panose="020B0604020202020204" pitchFamily="34" charset="0"/>
              <a:buChar char="•"/>
            </a:pPr>
            <a:r>
              <a:rPr lang="en-US" sz="2000" dirty="0">
                <a:cs typeface="Gelasio" panose="020B0604020202020204" charset="0"/>
              </a:rPr>
              <a:t>Samsung accounts for a significant portion of the market.</a:t>
            </a:r>
          </a:p>
          <a:p>
            <a:pPr marL="342900" indent="-342900">
              <a:lnSpc>
                <a:spcPct val="150000"/>
              </a:lnSpc>
              <a:buFont typeface="Arial" panose="020B0604020202020204" pitchFamily="34" charset="0"/>
              <a:buChar char="•"/>
            </a:pPr>
            <a:r>
              <a:rPr lang="en-US" sz="2000" dirty="0">
                <a:cs typeface="Gelasio" panose="020B0604020202020204" charset="0"/>
              </a:rPr>
              <a:t>Recommended to prioritize Samsung in promotional strategies </a:t>
            </a:r>
          </a:p>
          <a:p>
            <a:pPr lvl="0">
              <a:lnSpc>
                <a:spcPct val="150000"/>
              </a:lnSpc>
            </a:pPr>
            <a:r>
              <a:rPr lang="en-US" sz="2000" dirty="0">
                <a:cs typeface="Gelasio" panose="020B0604020202020204" charset="0"/>
              </a:rPr>
              <a:t>due to strong consumer demand.</a:t>
            </a:r>
          </a:p>
          <a:p>
            <a:pPr lvl="0">
              <a:lnSpc>
                <a:spcPct val="150000"/>
              </a:lnSpc>
            </a:pPr>
            <a:r>
              <a:rPr lang="en-US" sz="2000" dirty="0">
                <a:cs typeface="Gelasio" panose="020B0604020202020204" charset="0"/>
              </a:rPr>
              <a:t>•    Focusing on high-performing brands and exploring</a:t>
            </a:r>
          </a:p>
          <a:p>
            <a:pPr lvl="0">
              <a:lnSpc>
                <a:spcPct val="150000"/>
              </a:lnSpc>
            </a:pPr>
            <a:r>
              <a:rPr lang="en-US" sz="2000" dirty="0">
                <a:cs typeface="Gelasio" panose="020B0604020202020204" charset="0"/>
              </a:rPr>
              <a:t> cross-selling opportunities. Leverage popular brands to upsell products.</a:t>
            </a:r>
          </a:p>
          <a:p>
            <a:pPr algn="ctr">
              <a:lnSpc>
                <a:spcPts val="2200"/>
              </a:lnSpc>
            </a:pPr>
            <a:endParaRPr lang="en-US" sz="1750" dirty="0">
              <a:solidFill>
                <a:srgbClr val="272525"/>
              </a:solidFill>
              <a:latin typeface="Gelasio" panose="020B0604020202020204" charset="0"/>
              <a:ea typeface="Gelasio" pitchFamily="34" charset="-122"/>
              <a:cs typeface="Gelasio" panose="020B0604020202020204" charset="0"/>
            </a:endParaRPr>
          </a:p>
        </p:txBody>
      </p:sp>
      <p:sp>
        <p:nvSpPr>
          <p:cNvPr id="8" name="Text 5">
            <a:extLst>
              <a:ext uri="{FF2B5EF4-FFF2-40B4-BE49-F238E27FC236}">
                <a16:creationId xmlns:a16="http://schemas.microsoft.com/office/drawing/2014/main" id="{F5F9706A-756B-5D87-B7C9-828F81F1E6E6}"/>
              </a:ext>
            </a:extLst>
          </p:cNvPr>
          <p:cNvSpPr/>
          <p:nvPr/>
        </p:nvSpPr>
        <p:spPr>
          <a:xfrm>
            <a:off x="-1912343" y="3584127"/>
            <a:ext cx="7879556" cy="694016"/>
          </a:xfrm>
          <a:prstGeom prst="rect">
            <a:avLst/>
          </a:prstGeom>
          <a:noFill/>
          <a:ln/>
        </p:spPr>
        <p:txBody>
          <a:bodyPr wrap="none" lIns="0" tIns="0" rIns="0" bIns="0" rtlCol="0" anchor="t"/>
          <a:lstStyle/>
          <a:p>
            <a:pPr algn="ctr">
              <a:lnSpc>
                <a:spcPts val="4650"/>
              </a:lnSpc>
            </a:pPr>
            <a:endParaRPr lang="en-US" sz="4000" dirty="0">
              <a:solidFill>
                <a:srgbClr val="272525"/>
              </a:solidFill>
              <a:latin typeface="Book Antiqua" panose="02040602050305030304" pitchFamily="18" charset="0"/>
              <a:cs typeface="Gelasio" pitchFamily="34" charset="-120"/>
            </a:endParaRPr>
          </a:p>
        </p:txBody>
      </p:sp>
      <p:sp>
        <p:nvSpPr>
          <p:cNvPr id="15" name="TextBox 14">
            <a:extLst>
              <a:ext uri="{FF2B5EF4-FFF2-40B4-BE49-F238E27FC236}">
                <a16:creationId xmlns:a16="http://schemas.microsoft.com/office/drawing/2014/main" id="{3C2C62B7-1DAF-B2B4-BFC6-1B74D6D33DA5}"/>
              </a:ext>
            </a:extLst>
          </p:cNvPr>
          <p:cNvSpPr txBox="1"/>
          <p:nvPr/>
        </p:nvSpPr>
        <p:spPr>
          <a:xfrm>
            <a:off x="625475" y="724604"/>
            <a:ext cx="6696074" cy="639599"/>
          </a:xfrm>
          <a:prstGeom prst="rect">
            <a:avLst/>
          </a:prstGeom>
          <a:noFill/>
        </p:spPr>
        <p:txBody>
          <a:bodyPr wrap="square">
            <a:spAutoFit/>
          </a:bodyPr>
          <a:lstStyle/>
          <a:p>
            <a:pPr defTabSz="914400">
              <a:lnSpc>
                <a:spcPts val="4400"/>
              </a:lnSpc>
              <a:defRPr/>
            </a:pPr>
            <a:r>
              <a:rPr lang="en-US" sz="3550" dirty="0">
                <a:solidFill>
                  <a:srgbClr val="312F2B"/>
                </a:solidFill>
                <a:latin typeface="Book Antiqua" panose="02040602050305030304" pitchFamily="18" charset="0"/>
                <a:ea typeface="Gelasio" pitchFamily="34" charset="-122"/>
                <a:cs typeface="Gelasio" pitchFamily="34" charset="-120"/>
              </a:rPr>
              <a:t>Brand Performance Insights</a:t>
            </a:r>
          </a:p>
        </p:txBody>
      </p:sp>
      <p:pic>
        <p:nvPicPr>
          <p:cNvPr id="13" name="Picture 12" descr="A graph of sales and revenue&#10;&#10;AI-generated content may be incorrect.">
            <a:extLst>
              <a:ext uri="{FF2B5EF4-FFF2-40B4-BE49-F238E27FC236}">
                <a16:creationId xmlns:a16="http://schemas.microsoft.com/office/drawing/2014/main" id="{437D10D6-890B-D310-8A91-9AE9D0CFB2A5}"/>
              </a:ext>
              <a:ext uri="{C183D7F6-B498-43B3-948B-1728B52AA6E4}">
                <adec:decorative xmlns:adec="http://schemas.microsoft.com/office/drawing/2017/decorative" val="0"/>
              </a:ext>
            </a:extLst>
          </p:cNvPr>
          <p:cNvPicPr>
            <a:picLocks noChangeAspect="1"/>
          </p:cNvPicPr>
          <p:nvPr/>
        </p:nvPicPr>
        <p:blipFill>
          <a:blip r:embed="rId2"/>
          <a:srcRect l="1712" t="4721" r="-1712" b="241"/>
          <a:stretch/>
        </p:blipFill>
        <p:spPr>
          <a:xfrm>
            <a:off x="8586471" y="4278145"/>
            <a:ext cx="3864293" cy="2831453"/>
          </a:xfrm>
          <a:prstGeom prst="rect">
            <a:avLst/>
          </a:prstGeom>
        </p:spPr>
      </p:pic>
      <p:pic>
        <p:nvPicPr>
          <p:cNvPr id="17" name="Picture 16" descr="A graph of a product&#10;&#10;AI-generated content may be incorrect.">
            <a:extLst>
              <a:ext uri="{FF2B5EF4-FFF2-40B4-BE49-F238E27FC236}">
                <a16:creationId xmlns:a16="http://schemas.microsoft.com/office/drawing/2014/main" id="{C42DE464-8C73-F6A0-9257-1E617EB128F1}"/>
              </a:ext>
            </a:extLst>
          </p:cNvPr>
          <p:cNvPicPr>
            <a:picLocks noChangeAspect="1"/>
          </p:cNvPicPr>
          <p:nvPr/>
        </p:nvPicPr>
        <p:blipFill>
          <a:blip r:embed="rId3"/>
          <a:srcRect l="2215" r="1991" b="2828"/>
          <a:stretch/>
        </p:blipFill>
        <p:spPr>
          <a:xfrm>
            <a:off x="8097839" y="1639909"/>
            <a:ext cx="4352925" cy="2638234"/>
          </a:xfrm>
          <a:prstGeom prst="rect">
            <a:avLst/>
          </a:prstGeom>
        </p:spPr>
      </p:pic>
    </p:spTree>
    <p:extLst>
      <p:ext uri="{BB962C8B-B14F-4D97-AF65-F5344CB8AC3E}">
        <p14:creationId xmlns:p14="http://schemas.microsoft.com/office/powerpoint/2010/main" val="24025726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7438B0EF-5F60-2856-714E-F190E0BFC8ED}"/>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676C02A2-B028-744C-C180-304EDE0B61BB}"/>
              </a:ext>
            </a:extLst>
          </p:cNvPr>
          <p:cNvSpPr/>
          <p:nvPr/>
        </p:nvSpPr>
        <p:spPr>
          <a:xfrm>
            <a:off x="-1339592" y="2736206"/>
            <a:ext cx="7879556" cy="596146"/>
          </a:xfrm>
          <a:prstGeom prst="rect">
            <a:avLst/>
          </a:prstGeom>
          <a:noFill/>
          <a:ln/>
        </p:spPr>
        <p:txBody>
          <a:bodyPr wrap="none" lIns="0" tIns="0" rIns="0" bIns="0" rtlCol="0" anchor="t"/>
          <a:lstStyle/>
          <a:p>
            <a:pPr algn="ctr">
              <a:lnSpc>
                <a:spcPts val="4650"/>
              </a:lnSpc>
            </a:pPr>
            <a:endParaRPr lang="en-US" sz="4800" dirty="0">
              <a:solidFill>
                <a:srgbClr val="272525"/>
              </a:solidFill>
              <a:latin typeface="Broadway" panose="04040905080B02020502" pitchFamily="82" charset="0"/>
              <a:cs typeface="Gelasio" pitchFamily="34" charset="-120"/>
            </a:endParaRPr>
          </a:p>
        </p:txBody>
      </p:sp>
      <p:sp>
        <p:nvSpPr>
          <p:cNvPr id="8" name="Text 5">
            <a:extLst>
              <a:ext uri="{FF2B5EF4-FFF2-40B4-BE49-F238E27FC236}">
                <a16:creationId xmlns:a16="http://schemas.microsoft.com/office/drawing/2014/main" id="{73A6EE31-5C9A-8167-92D3-E6C9BC1EDAD1}"/>
              </a:ext>
            </a:extLst>
          </p:cNvPr>
          <p:cNvSpPr/>
          <p:nvPr/>
        </p:nvSpPr>
        <p:spPr>
          <a:xfrm>
            <a:off x="-1912343" y="3584127"/>
            <a:ext cx="7879556" cy="3148460"/>
          </a:xfrm>
          <a:prstGeom prst="rect">
            <a:avLst/>
          </a:prstGeom>
          <a:noFill/>
          <a:ln/>
        </p:spPr>
        <p:txBody>
          <a:bodyPr wrap="none" lIns="0" tIns="0" rIns="0" bIns="0" rtlCol="0" anchor="t"/>
          <a:lstStyle/>
          <a:p>
            <a:pPr algn="ctr">
              <a:lnSpc>
                <a:spcPts val="4650"/>
              </a:lnSpc>
            </a:pPr>
            <a:endParaRPr lang="en-US" sz="4000" dirty="0">
              <a:solidFill>
                <a:srgbClr val="272525"/>
              </a:solidFill>
              <a:latin typeface="Book Antiqua" panose="02040602050305030304" pitchFamily="18" charset="0"/>
              <a:cs typeface="Gelasio" pitchFamily="34" charset="-120"/>
            </a:endParaRPr>
          </a:p>
        </p:txBody>
      </p:sp>
      <p:sp>
        <p:nvSpPr>
          <p:cNvPr id="10" name="Text 7">
            <a:extLst>
              <a:ext uri="{FF2B5EF4-FFF2-40B4-BE49-F238E27FC236}">
                <a16:creationId xmlns:a16="http://schemas.microsoft.com/office/drawing/2014/main" id="{C499A402-943A-9DEE-6720-8F5C163D395D}"/>
              </a:ext>
            </a:extLst>
          </p:cNvPr>
          <p:cNvSpPr/>
          <p:nvPr/>
        </p:nvSpPr>
        <p:spPr>
          <a:xfrm>
            <a:off x="-1912343" y="4595569"/>
            <a:ext cx="7879556" cy="596146"/>
          </a:xfrm>
          <a:prstGeom prst="rect">
            <a:avLst/>
          </a:prstGeom>
          <a:noFill/>
          <a:ln/>
        </p:spPr>
        <p:txBody>
          <a:bodyPr wrap="none" lIns="0" tIns="0" rIns="0" bIns="0" rtlCol="0" anchor="t"/>
          <a:lstStyle/>
          <a:p>
            <a:pPr algn="ctr">
              <a:lnSpc>
                <a:spcPts val="4650"/>
              </a:lnSpc>
            </a:pPr>
            <a:endParaRPr lang="en-US" sz="4800" dirty="0">
              <a:solidFill>
                <a:srgbClr val="272525"/>
              </a:solidFill>
              <a:latin typeface="Book Antiqua" panose="02040602050305030304" pitchFamily="18" charset="0"/>
              <a:cs typeface="Gelasio" pitchFamily="34" charset="-120"/>
            </a:endParaRPr>
          </a:p>
        </p:txBody>
      </p:sp>
      <p:sp>
        <p:nvSpPr>
          <p:cNvPr id="15" name="TextBox 14">
            <a:extLst>
              <a:ext uri="{FF2B5EF4-FFF2-40B4-BE49-F238E27FC236}">
                <a16:creationId xmlns:a16="http://schemas.microsoft.com/office/drawing/2014/main" id="{C00D7A13-4F73-4281-B96E-D3F96878AF66}"/>
              </a:ext>
            </a:extLst>
          </p:cNvPr>
          <p:cNvSpPr txBox="1"/>
          <p:nvPr/>
        </p:nvSpPr>
        <p:spPr>
          <a:xfrm>
            <a:off x="368300" y="2313252"/>
            <a:ext cx="6696074" cy="639599"/>
          </a:xfrm>
          <a:prstGeom prst="rect">
            <a:avLst/>
          </a:prstGeom>
          <a:noFill/>
        </p:spPr>
        <p:txBody>
          <a:bodyPr wrap="square">
            <a:spAutoFit/>
          </a:bodyPr>
          <a:lstStyle/>
          <a:p>
            <a:pPr defTabSz="914400">
              <a:lnSpc>
                <a:spcPts val="4400"/>
              </a:lnSpc>
              <a:defRPr/>
            </a:pPr>
            <a:r>
              <a:rPr lang="en-US" sz="3550" dirty="0">
                <a:solidFill>
                  <a:srgbClr val="312F2B"/>
                </a:solidFill>
                <a:latin typeface="Book Antiqua" panose="02040602050305030304" pitchFamily="18" charset="0"/>
                <a:ea typeface="Gelasio" pitchFamily="34" charset="-122"/>
                <a:cs typeface="Gelasio" pitchFamily="34" charset="-120"/>
              </a:rPr>
              <a:t>Impact of Amazon Badges</a:t>
            </a:r>
          </a:p>
        </p:txBody>
      </p:sp>
      <p:pic>
        <p:nvPicPr>
          <p:cNvPr id="13" name="Image 0" descr="preencoded.png">
            <a:extLst>
              <a:ext uri="{FF2B5EF4-FFF2-40B4-BE49-F238E27FC236}">
                <a16:creationId xmlns:a16="http://schemas.microsoft.com/office/drawing/2014/main" id="{1075D5A6-68D0-8803-1EBF-BDF2D9371223}"/>
              </a:ext>
            </a:extLst>
          </p:cNvPr>
          <p:cNvPicPr>
            <a:picLocks noChangeAspect="1"/>
          </p:cNvPicPr>
          <p:nvPr/>
        </p:nvPicPr>
        <p:blipFill>
          <a:blip r:embed="rId3"/>
          <a:stretch>
            <a:fillRect/>
          </a:stretch>
        </p:blipFill>
        <p:spPr>
          <a:xfrm>
            <a:off x="-1093788" y="277644"/>
            <a:ext cx="13620750" cy="2037980"/>
          </a:xfrm>
          <a:prstGeom prst="rect">
            <a:avLst/>
          </a:prstGeom>
        </p:spPr>
      </p:pic>
      <p:pic>
        <p:nvPicPr>
          <p:cNvPr id="20" name="Image 1" descr="preencoded.png">
            <a:extLst>
              <a:ext uri="{FF2B5EF4-FFF2-40B4-BE49-F238E27FC236}">
                <a16:creationId xmlns:a16="http://schemas.microsoft.com/office/drawing/2014/main" id="{863CEC97-97EA-728E-86D5-037A98E09846}"/>
              </a:ext>
            </a:extLst>
          </p:cNvPr>
          <p:cNvPicPr>
            <a:picLocks noChangeAspect="1"/>
          </p:cNvPicPr>
          <p:nvPr/>
        </p:nvPicPr>
        <p:blipFill>
          <a:blip r:embed="rId4"/>
          <a:stretch>
            <a:fillRect/>
          </a:stretch>
        </p:blipFill>
        <p:spPr>
          <a:xfrm>
            <a:off x="589875" y="3331245"/>
            <a:ext cx="515422" cy="515422"/>
          </a:xfrm>
          <a:prstGeom prst="rect">
            <a:avLst/>
          </a:prstGeom>
        </p:spPr>
      </p:pic>
      <p:sp>
        <p:nvSpPr>
          <p:cNvPr id="21" name="Text 1">
            <a:extLst>
              <a:ext uri="{FF2B5EF4-FFF2-40B4-BE49-F238E27FC236}">
                <a16:creationId xmlns:a16="http://schemas.microsoft.com/office/drawing/2014/main" id="{828F08F8-3E16-F6B0-5150-0A418B295740}"/>
              </a:ext>
            </a:extLst>
          </p:cNvPr>
          <p:cNvSpPr/>
          <p:nvPr/>
        </p:nvSpPr>
        <p:spPr>
          <a:xfrm>
            <a:off x="1311394" y="3295171"/>
            <a:ext cx="2577584" cy="322183"/>
          </a:xfrm>
          <a:prstGeom prst="rect">
            <a:avLst/>
          </a:prstGeom>
          <a:noFill/>
          <a:ln/>
        </p:spPr>
        <p:txBody>
          <a:bodyPr wrap="none" lIns="0" tIns="0" rIns="0" bIns="0" rtlCol="0" anchor="t"/>
          <a:lstStyle/>
          <a:p>
            <a:pPr>
              <a:lnSpc>
                <a:spcPts val="2500"/>
              </a:lnSpc>
            </a:pPr>
            <a:r>
              <a:rPr lang="en-US" sz="2400" dirty="0">
                <a:solidFill>
                  <a:srgbClr val="272525"/>
                </a:solidFill>
                <a:latin typeface="Book Antiqua" panose="02040602050305030304" pitchFamily="18" charset="0"/>
                <a:ea typeface="Gelasio" pitchFamily="34" charset="-122"/>
                <a:cs typeface="Gelasio" pitchFamily="34" charset="-120"/>
              </a:rPr>
              <a:t>Best Seller</a:t>
            </a:r>
            <a:endParaRPr lang="en-US" sz="2400" dirty="0">
              <a:latin typeface="Book Antiqua" panose="02040602050305030304" pitchFamily="18" charset="0"/>
            </a:endParaRPr>
          </a:p>
        </p:txBody>
      </p:sp>
      <p:pic>
        <p:nvPicPr>
          <p:cNvPr id="22" name="Image 2" descr="preencoded.png">
            <a:extLst>
              <a:ext uri="{FF2B5EF4-FFF2-40B4-BE49-F238E27FC236}">
                <a16:creationId xmlns:a16="http://schemas.microsoft.com/office/drawing/2014/main" id="{67908073-C042-B2F8-AAEA-E891411E4579}"/>
              </a:ext>
            </a:extLst>
          </p:cNvPr>
          <p:cNvPicPr>
            <a:picLocks noChangeAspect="1"/>
          </p:cNvPicPr>
          <p:nvPr/>
        </p:nvPicPr>
        <p:blipFill>
          <a:blip r:embed="rId5"/>
          <a:stretch>
            <a:fillRect/>
          </a:stretch>
        </p:blipFill>
        <p:spPr>
          <a:xfrm>
            <a:off x="589875" y="4564339"/>
            <a:ext cx="515422" cy="515422"/>
          </a:xfrm>
          <a:prstGeom prst="rect">
            <a:avLst/>
          </a:prstGeom>
        </p:spPr>
      </p:pic>
      <p:sp>
        <p:nvSpPr>
          <p:cNvPr id="23" name="Text 3">
            <a:extLst>
              <a:ext uri="{FF2B5EF4-FFF2-40B4-BE49-F238E27FC236}">
                <a16:creationId xmlns:a16="http://schemas.microsoft.com/office/drawing/2014/main" id="{9350BD6E-4DFD-9F5D-7AB4-CD43A16D99B3}"/>
              </a:ext>
            </a:extLst>
          </p:cNvPr>
          <p:cNvSpPr/>
          <p:nvPr/>
        </p:nvSpPr>
        <p:spPr>
          <a:xfrm>
            <a:off x="1193047" y="4591000"/>
            <a:ext cx="2414468" cy="322183"/>
          </a:xfrm>
          <a:prstGeom prst="rect">
            <a:avLst/>
          </a:prstGeom>
          <a:noFill/>
          <a:ln/>
        </p:spPr>
        <p:txBody>
          <a:bodyPr wrap="none" lIns="0" tIns="0" rIns="0" bIns="0" rtlCol="0" anchor="t"/>
          <a:lstStyle/>
          <a:p>
            <a:pPr>
              <a:lnSpc>
                <a:spcPts val="2500"/>
              </a:lnSpc>
            </a:pPr>
            <a:r>
              <a:rPr lang="en-US" sz="2400" dirty="0">
                <a:solidFill>
                  <a:srgbClr val="272525"/>
                </a:solidFill>
                <a:latin typeface="Book Antiqua" panose="02040602050305030304" pitchFamily="18" charset="0"/>
                <a:ea typeface="Gelasio" pitchFamily="34" charset="-122"/>
                <a:cs typeface="Gelasio" pitchFamily="34" charset="-120"/>
              </a:rPr>
              <a:t>Amazon Choice</a:t>
            </a:r>
            <a:endParaRPr lang="en-US" sz="2400" dirty="0">
              <a:latin typeface="Book Antiqua" panose="02040602050305030304" pitchFamily="18" charset="0"/>
            </a:endParaRPr>
          </a:p>
        </p:txBody>
      </p:sp>
      <p:pic>
        <p:nvPicPr>
          <p:cNvPr id="24" name="Image 3" descr="preencoded.png">
            <a:extLst>
              <a:ext uri="{FF2B5EF4-FFF2-40B4-BE49-F238E27FC236}">
                <a16:creationId xmlns:a16="http://schemas.microsoft.com/office/drawing/2014/main" id="{E4F2466C-333A-F834-C3F1-384D2355F6C2}"/>
              </a:ext>
            </a:extLst>
          </p:cNvPr>
          <p:cNvPicPr>
            <a:picLocks noChangeAspect="1"/>
          </p:cNvPicPr>
          <p:nvPr/>
        </p:nvPicPr>
        <p:blipFill>
          <a:blip r:embed="rId6"/>
          <a:stretch>
            <a:fillRect/>
          </a:stretch>
        </p:blipFill>
        <p:spPr>
          <a:xfrm>
            <a:off x="589875" y="5833492"/>
            <a:ext cx="515422" cy="515422"/>
          </a:xfrm>
          <a:prstGeom prst="rect">
            <a:avLst/>
          </a:prstGeom>
        </p:spPr>
      </p:pic>
      <p:sp>
        <p:nvSpPr>
          <p:cNvPr id="25" name="Text 5">
            <a:extLst>
              <a:ext uri="{FF2B5EF4-FFF2-40B4-BE49-F238E27FC236}">
                <a16:creationId xmlns:a16="http://schemas.microsoft.com/office/drawing/2014/main" id="{DAEBD147-C56A-C706-32BD-8CC595AA0BC2}"/>
              </a:ext>
            </a:extLst>
          </p:cNvPr>
          <p:cNvSpPr/>
          <p:nvPr/>
        </p:nvSpPr>
        <p:spPr>
          <a:xfrm>
            <a:off x="1311394" y="5881726"/>
            <a:ext cx="2577584" cy="322183"/>
          </a:xfrm>
          <a:prstGeom prst="rect">
            <a:avLst/>
          </a:prstGeom>
          <a:noFill/>
          <a:ln/>
        </p:spPr>
        <p:txBody>
          <a:bodyPr wrap="none" lIns="0" tIns="0" rIns="0" bIns="0" rtlCol="0" anchor="t"/>
          <a:lstStyle/>
          <a:p>
            <a:pPr>
              <a:lnSpc>
                <a:spcPts val="2500"/>
              </a:lnSpc>
            </a:pPr>
            <a:r>
              <a:rPr lang="en-US" sz="2400" dirty="0">
                <a:solidFill>
                  <a:srgbClr val="272525"/>
                </a:solidFill>
                <a:latin typeface="Book Antiqua" panose="02040602050305030304" pitchFamily="18" charset="0"/>
                <a:ea typeface="Gelasio" pitchFamily="34" charset="-122"/>
                <a:cs typeface="Gelasio" pitchFamily="34" charset="-120"/>
              </a:rPr>
              <a:t>Climate Friendly</a:t>
            </a:r>
            <a:endParaRPr lang="en-US" sz="2400" dirty="0">
              <a:latin typeface="Book Antiqua" panose="02040602050305030304" pitchFamily="18" charset="0"/>
            </a:endParaRPr>
          </a:p>
        </p:txBody>
      </p:sp>
      <p:sp>
        <p:nvSpPr>
          <p:cNvPr id="26" name="Text 2">
            <a:extLst>
              <a:ext uri="{FF2B5EF4-FFF2-40B4-BE49-F238E27FC236}">
                <a16:creationId xmlns:a16="http://schemas.microsoft.com/office/drawing/2014/main" id="{084B20B2-CA51-5F31-214E-3A3F29444C95}"/>
              </a:ext>
            </a:extLst>
          </p:cNvPr>
          <p:cNvSpPr/>
          <p:nvPr/>
        </p:nvSpPr>
        <p:spPr>
          <a:xfrm>
            <a:off x="1105297" y="3660381"/>
            <a:ext cx="12465606" cy="329922"/>
          </a:xfrm>
          <a:prstGeom prst="rect">
            <a:avLst/>
          </a:prstGeom>
          <a:noFill/>
          <a:ln/>
        </p:spPr>
        <p:txBody>
          <a:bodyPr wrap="none" lIns="0" tIns="0" rIns="0" bIns="0" rtlCol="0" anchor="t"/>
          <a:lstStyle/>
          <a:p>
            <a:pPr>
              <a:lnSpc>
                <a:spcPts val="2550"/>
              </a:lnSpc>
            </a:pPr>
            <a:r>
              <a:rPr lang="en-US" sz="1600" dirty="0">
                <a:solidFill>
                  <a:srgbClr val="272525"/>
                </a:solidFill>
                <a:latin typeface="Lato" pitchFamily="34" charset="0"/>
                <a:ea typeface="Lato" pitchFamily="34" charset="-122"/>
                <a:cs typeface="Lato" pitchFamily="34" charset="-120"/>
              </a:rPr>
              <a:t>2 products, high sales per product.</a:t>
            </a:r>
            <a:endParaRPr lang="en-US" sz="1600" dirty="0"/>
          </a:p>
        </p:txBody>
      </p:sp>
      <p:sp>
        <p:nvSpPr>
          <p:cNvPr id="27" name="Text 4">
            <a:extLst>
              <a:ext uri="{FF2B5EF4-FFF2-40B4-BE49-F238E27FC236}">
                <a16:creationId xmlns:a16="http://schemas.microsoft.com/office/drawing/2014/main" id="{5FEDEB24-B2C7-E7DD-150C-451AC4E9AE51}"/>
              </a:ext>
            </a:extLst>
          </p:cNvPr>
          <p:cNvSpPr/>
          <p:nvPr/>
        </p:nvSpPr>
        <p:spPr>
          <a:xfrm>
            <a:off x="990997" y="4939054"/>
            <a:ext cx="12465606" cy="329922"/>
          </a:xfrm>
          <a:prstGeom prst="rect">
            <a:avLst/>
          </a:prstGeom>
          <a:noFill/>
          <a:ln/>
        </p:spPr>
        <p:txBody>
          <a:bodyPr wrap="none" lIns="0" tIns="0" rIns="0" bIns="0" rtlCol="0" anchor="t"/>
          <a:lstStyle/>
          <a:p>
            <a:pPr>
              <a:lnSpc>
                <a:spcPts val="2550"/>
              </a:lnSpc>
            </a:pPr>
            <a:r>
              <a:rPr lang="en-US" sz="1600" dirty="0">
                <a:solidFill>
                  <a:srgbClr val="272525"/>
                </a:solidFill>
                <a:latin typeface="Lato" pitchFamily="34" charset="0"/>
                <a:ea typeface="Lato" pitchFamily="34" charset="-122"/>
                <a:cs typeface="Lato" pitchFamily="34" charset="-120"/>
              </a:rPr>
              <a:t>1 product, highest sales per product.</a:t>
            </a:r>
            <a:endParaRPr lang="en-US" sz="1600" dirty="0"/>
          </a:p>
        </p:txBody>
      </p:sp>
      <p:sp>
        <p:nvSpPr>
          <p:cNvPr id="28" name="Text 6">
            <a:extLst>
              <a:ext uri="{FF2B5EF4-FFF2-40B4-BE49-F238E27FC236}">
                <a16:creationId xmlns:a16="http://schemas.microsoft.com/office/drawing/2014/main" id="{05D3E9FA-8E4B-504A-E952-256ED24C66C6}"/>
              </a:ext>
            </a:extLst>
          </p:cNvPr>
          <p:cNvSpPr/>
          <p:nvPr/>
        </p:nvSpPr>
        <p:spPr>
          <a:xfrm>
            <a:off x="990997" y="6282309"/>
            <a:ext cx="12465606" cy="329922"/>
          </a:xfrm>
          <a:prstGeom prst="rect">
            <a:avLst/>
          </a:prstGeom>
          <a:noFill/>
          <a:ln/>
        </p:spPr>
        <p:txBody>
          <a:bodyPr wrap="none" lIns="0" tIns="0" rIns="0" bIns="0" rtlCol="0" anchor="t"/>
          <a:lstStyle/>
          <a:p>
            <a:pPr>
              <a:lnSpc>
                <a:spcPts val="2550"/>
              </a:lnSpc>
            </a:pPr>
            <a:r>
              <a:rPr lang="en-US" sz="1600" dirty="0">
                <a:solidFill>
                  <a:srgbClr val="272525"/>
                </a:solidFill>
                <a:latin typeface="Lato" pitchFamily="34" charset="0"/>
                <a:ea typeface="Lato" pitchFamily="34" charset="-122"/>
                <a:cs typeface="Lato" pitchFamily="34" charset="-120"/>
              </a:rPr>
              <a:t>11.94% of products, moderate sales impact.</a:t>
            </a:r>
            <a:endParaRPr lang="en-US" sz="1600" dirty="0"/>
          </a:p>
        </p:txBody>
      </p:sp>
      <p:pic>
        <p:nvPicPr>
          <p:cNvPr id="29" name="Picture 28">
            <a:extLst>
              <a:ext uri="{FF2B5EF4-FFF2-40B4-BE49-F238E27FC236}">
                <a16:creationId xmlns:a16="http://schemas.microsoft.com/office/drawing/2014/main" id="{B2232924-AC9B-B3A0-3AA8-FBCBC69EE18B}"/>
              </a:ext>
            </a:extLst>
          </p:cNvPr>
          <p:cNvPicPr>
            <a:picLocks noChangeAspect="1"/>
          </p:cNvPicPr>
          <p:nvPr/>
        </p:nvPicPr>
        <p:blipFill>
          <a:blip r:embed="rId7"/>
          <a:stretch>
            <a:fillRect/>
          </a:stretch>
        </p:blipFill>
        <p:spPr>
          <a:xfrm>
            <a:off x="7354889" y="2427287"/>
            <a:ext cx="5095875" cy="4673768"/>
          </a:xfrm>
          <a:prstGeom prst="rect">
            <a:avLst/>
          </a:prstGeom>
        </p:spPr>
      </p:pic>
    </p:spTree>
    <p:extLst>
      <p:ext uri="{BB962C8B-B14F-4D97-AF65-F5344CB8AC3E}">
        <p14:creationId xmlns:p14="http://schemas.microsoft.com/office/powerpoint/2010/main" val="3234281351"/>
      </p:ext>
    </p:extLst>
  </p:cSld>
  <p:clrMapOvr>
    <a:overrideClrMapping bg1="lt1" tx1="dk1" bg2="lt2" tx2="dk2" accent1="accent1" accent2="accent2" accent3="accent3" accent4="accent4" accent5="accent5" accent6="accent6" hlink="hlink" folHlink="folHlink"/>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50"/>
                                        <p:tgtEl>
                                          <p:spTgt spid="8"/>
                                        </p:tgtEl>
                                      </p:cBhvr>
                                    </p:animEffect>
                                    <p:anim calcmode="lin" valueType="num">
                                      <p:cBhvr>
                                        <p:cTn id="14" dur="250" fill="hold"/>
                                        <p:tgtEl>
                                          <p:spTgt spid="8"/>
                                        </p:tgtEl>
                                        <p:attrNameLst>
                                          <p:attrName>ppt_x</p:attrName>
                                        </p:attrNameLst>
                                      </p:cBhvr>
                                      <p:tavLst>
                                        <p:tav tm="0">
                                          <p:val>
                                            <p:strVal val="#ppt_x"/>
                                          </p:val>
                                        </p:tav>
                                        <p:tav tm="100000">
                                          <p:val>
                                            <p:strVal val="#ppt_x"/>
                                          </p:val>
                                        </p:tav>
                                      </p:tavLst>
                                    </p:anim>
                                    <p:anim calcmode="lin" valueType="num">
                                      <p:cBhvr>
                                        <p:cTn id="15" dur="250" fill="hold"/>
                                        <p:tgtEl>
                                          <p:spTgt spid="8"/>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42"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50"/>
                                        <p:tgtEl>
                                          <p:spTgt spid="10"/>
                                        </p:tgtEl>
                                      </p:cBhvr>
                                    </p:animEffect>
                                    <p:anim calcmode="lin" valueType="num">
                                      <p:cBhvr>
                                        <p:cTn id="20" dur="250" fill="hold"/>
                                        <p:tgtEl>
                                          <p:spTgt spid="10"/>
                                        </p:tgtEl>
                                        <p:attrNameLst>
                                          <p:attrName>ppt_x</p:attrName>
                                        </p:attrNameLst>
                                      </p:cBhvr>
                                      <p:tavLst>
                                        <p:tav tm="0">
                                          <p:val>
                                            <p:strVal val="#ppt_x"/>
                                          </p:val>
                                        </p:tav>
                                        <p:tav tm="100000">
                                          <p:val>
                                            <p:strVal val="#ppt_x"/>
                                          </p:val>
                                        </p:tav>
                                      </p:tavLst>
                                    </p:anim>
                                    <p:anim calcmode="lin" valueType="num">
                                      <p:cBhvr>
                                        <p:cTn id="21" dur="2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19CA2F2D-35C6-E1CB-7F87-8E2A99992F1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3AF1B4B-03AB-62F0-3AFD-B9B1CC4A1950}"/>
              </a:ext>
            </a:extLst>
          </p:cNvPr>
          <p:cNvSpPr txBox="1"/>
          <p:nvPr/>
        </p:nvSpPr>
        <p:spPr>
          <a:xfrm>
            <a:off x="368300" y="2313252"/>
            <a:ext cx="6696074" cy="639599"/>
          </a:xfrm>
          <a:prstGeom prst="rect">
            <a:avLst/>
          </a:prstGeom>
          <a:noFill/>
        </p:spPr>
        <p:txBody>
          <a:bodyPr wrap="square">
            <a:spAutoFit/>
          </a:bodyPr>
          <a:lstStyle/>
          <a:p>
            <a:pPr defTabSz="914400">
              <a:lnSpc>
                <a:spcPts val="4400"/>
              </a:lnSpc>
              <a:defRPr/>
            </a:pPr>
            <a:r>
              <a:rPr lang="en-US" sz="3550" dirty="0">
                <a:solidFill>
                  <a:srgbClr val="312F2B"/>
                </a:solidFill>
                <a:latin typeface="Book Antiqua" panose="02040602050305030304" pitchFamily="18" charset="0"/>
                <a:ea typeface="Gelasio" pitchFamily="34" charset="-122"/>
                <a:cs typeface="Gelasio" pitchFamily="34" charset="-120"/>
              </a:rPr>
              <a:t>Impact of Amazon Badges</a:t>
            </a:r>
          </a:p>
        </p:txBody>
      </p:sp>
      <p:pic>
        <p:nvPicPr>
          <p:cNvPr id="13" name="Image 0" descr="preencoded.png">
            <a:extLst>
              <a:ext uri="{FF2B5EF4-FFF2-40B4-BE49-F238E27FC236}">
                <a16:creationId xmlns:a16="http://schemas.microsoft.com/office/drawing/2014/main" id="{F56CEBA6-6BB5-A602-C56B-9E4142484B15}"/>
              </a:ext>
            </a:extLst>
          </p:cNvPr>
          <p:cNvPicPr>
            <a:picLocks noChangeAspect="1"/>
          </p:cNvPicPr>
          <p:nvPr/>
        </p:nvPicPr>
        <p:blipFill>
          <a:blip r:embed="rId3"/>
          <a:stretch>
            <a:fillRect/>
          </a:stretch>
        </p:blipFill>
        <p:spPr>
          <a:xfrm>
            <a:off x="-1093788" y="277644"/>
            <a:ext cx="13620750" cy="2037980"/>
          </a:xfrm>
          <a:prstGeom prst="rect">
            <a:avLst/>
          </a:prstGeom>
        </p:spPr>
      </p:pic>
      <p:pic>
        <p:nvPicPr>
          <p:cNvPr id="19" name="Picture 18">
            <a:extLst>
              <a:ext uri="{FF2B5EF4-FFF2-40B4-BE49-F238E27FC236}">
                <a16:creationId xmlns:a16="http://schemas.microsoft.com/office/drawing/2014/main" id="{0BC0BF81-0A2F-FC37-E522-BD1613AF7C8C}"/>
              </a:ext>
            </a:extLst>
          </p:cNvPr>
          <p:cNvPicPr>
            <a:picLocks noChangeAspect="1"/>
          </p:cNvPicPr>
          <p:nvPr/>
        </p:nvPicPr>
        <p:blipFill>
          <a:blip r:embed="rId4"/>
          <a:stretch>
            <a:fillRect/>
          </a:stretch>
        </p:blipFill>
        <p:spPr>
          <a:xfrm>
            <a:off x="7354889" y="2427287"/>
            <a:ext cx="5095875" cy="4673768"/>
          </a:xfrm>
          <a:prstGeom prst="rect">
            <a:avLst/>
          </a:prstGeom>
        </p:spPr>
      </p:pic>
      <p:sp>
        <p:nvSpPr>
          <p:cNvPr id="28" name="Text 6">
            <a:extLst>
              <a:ext uri="{FF2B5EF4-FFF2-40B4-BE49-F238E27FC236}">
                <a16:creationId xmlns:a16="http://schemas.microsoft.com/office/drawing/2014/main" id="{3EBE7E9A-C625-125E-1745-CCD7A6A2D265}"/>
              </a:ext>
            </a:extLst>
          </p:cNvPr>
          <p:cNvSpPr/>
          <p:nvPr/>
        </p:nvSpPr>
        <p:spPr>
          <a:xfrm>
            <a:off x="258761" y="3205701"/>
            <a:ext cx="6629400" cy="3771900"/>
          </a:xfrm>
          <a:prstGeom prst="rect">
            <a:avLst/>
          </a:prstGeom>
          <a:noFill/>
          <a:ln/>
        </p:spPr>
        <p:txBody>
          <a:bodyPr wrap="none" lIns="0" tIns="0" rIns="0" bIns="0" rtlCol="0" anchor="t"/>
          <a:lstStyle/>
          <a:p>
            <a:pPr marL="342900" indent="-342900">
              <a:lnSpc>
                <a:spcPct val="115000"/>
              </a:lnSpc>
              <a:spcAft>
                <a:spcPts val="800"/>
              </a:spcAft>
              <a:buSzPts val="1000"/>
              <a:buFont typeface="Arial" panose="020B0604020202020204" pitchFamily="34" charset="0"/>
              <a:buChar char="•"/>
              <a:tabLst>
                <a:tab pos="457200" algn="l"/>
              </a:tabLst>
            </a:pPr>
            <a:r>
              <a:rPr lang="en-US" sz="1900" dirty="0">
                <a:ea typeface="Calibri" panose="020F0502020204030204" pitchFamily="34" charset="0"/>
                <a:cs typeface="Calibri" panose="020F0502020204030204" pitchFamily="34" charset="0"/>
              </a:rPr>
              <a:t>These</a:t>
            </a:r>
            <a:r>
              <a:rPr lang="en-US" sz="1900" kern="100" dirty="0">
                <a:ea typeface="Calibri" panose="020F0502020204030204" pitchFamily="34" charset="0"/>
                <a:cs typeface="Calibri" panose="020F0502020204030204" pitchFamily="34" charset="0"/>
              </a:rPr>
              <a:t> badges are rare but significantly impact sales and revenue.</a:t>
            </a:r>
          </a:p>
          <a:p>
            <a:pPr marL="342900" indent="-342900">
              <a:lnSpc>
                <a:spcPct val="115000"/>
              </a:lnSpc>
              <a:spcAft>
                <a:spcPts val="800"/>
              </a:spcAft>
              <a:buSzPts val="1000"/>
              <a:buFont typeface="Arial" panose="020B0604020202020204" pitchFamily="34" charset="0"/>
              <a:buChar char="•"/>
              <a:tabLst>
                <a:tab pos="457200" algn="l"/>
              </a:tabLst>
            </a:pPr>
            <a:r>
              <a:rPr lang="en-US" sz="1900" kern="100" dirty="0">
                <a:ea typeface="Calibri" panose="020F0502020204030204" pitchFamily="34" charset="0"/>
                <a:cs typeface="Calibri" panose="020F0502020204030204" pitchFamily="34" charset="0"/>
              </a:rPr>
              <a:t>For example, Amazon </a:t>
            </a:r>
            <a:r>
              <a:rPr lang="en-US" sz="2000" kern="100" dirty="0">
                <a:ea typeface="Calibri" panose="020F0502020204030204" pitchFamily="34" charset="0"/>
                <a:cs typeface="Calibri" panose="020F0502020204030204" pitchFamily="34" charset="0"/>
              </a:rPr>
              <a:t>Choice</a:t>
            </a:r>
            <a:r>
              <a:rPr lang="en-US" sz="1900" kern="100" dirty="0">
                <a:ea typeface="Calibri" panose="020F0502020204030204" pitchFamily="34" charset="0"/>
                <a:cs typeface="Calibri" panose="020F0502020204030204" pitchFamily="34" charset="0"/>
              </a:rPr>
              <a:t> products, though only </a:t>
            </a:r>
          </a:p>
          <a:p>
            <a:pPr>
              <a:lnSpc>
                <a:spcPct val="115000"/>
              </a:lnSpc>
              <a:spcAft>
                <a:spcPts val="800"/>
              </a:spcAft>
              <a:buSzPts val="1000"/>
              <a:tabLst>
                <a:tab pos="457200" algn="l"/>
              </a:tabLst>
            </a:pPr>
            <a:r>
              <a:rPr lang="en-US" sz="1900" kern="100" dirty="0">
                <a:ea typeface="Calibri" panose="020F0502020204030204" pitchFamily="34" charset="0"/>
                <a:cs typeface="Calibri" panose="020F0502020204030204" pitchFamily="34" charset="0"/>
              </a:rPr>
              <a:t>a small percentage shows much higher sales per product</a:t>
            </a:r>
          </a:p>
        </p:txBody>
      </p:sp>
    </p:spTree>
    <p:extLst>
      <p:ext uri="{BB962C8B-B14F-4D97-AF65-F5344CB8AC3E}">
        <p14:creationId xmlns:p14="http://schemas.microsoft.com/office/powerpoint/2010/main" val="709701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D7DBD1D2-DCE7-DEF3-3BC6-9F6BF566EAD9}"/>
              </a:ext>
            </a:extLst>
          </p:cNvPr>
          <p:cNvPicPr>
            <a:picLocks noChangeAspect="1"/>
          </p:cNvPicPr>
          <p:nvPr/>
        </p:nvPicPr>
        <p:blipFill>
          <a:blip r:embed="rId2"/>
          <a:stretch>
            <a:fillRect/>
          </a:stretch>
        </p:blipFill>
        <p:spPr>
          <a:xfrm>
            <a:off x="-74614" y="-1058863"/>
            <a:ext cx="5419725" cy="8191500"/>
          </a:xfrm>
          <a:prstGeom prst="rect">
            <a:avLst/>
          </a:prstGeom>
        </p:spPr>
      </p:pic>
      <p:sp>
        <p:nvSpPr>
          <p:cNvPr id="6" name="TextBox 5">
            <a:extLst>
              <a:ext uri="{FF2B5EF4-FFF2-40B4-BE49-F238E27FC236}">
                <a16:creationId xmlns:a16="http://schemas.microsoft.com/office/drawing/2014/main" id="{6A85C1A5-882F-2429-E2D6-B00613E4E762}"/>
              </a:ext>
            </a:extLst>
          </p:cNvPr>
          <p:cNvSpPr txBox="1"/>
          <p:nvPr/>
        </p:nvSpPr>
        <p:spPr>
          <a:xfrm>
            <a:off x="5123656" y="929732"/>
            <a:ext cx="6262686" cy="737638"/>
          </a:xfrm>
          <a:prstGeom prst="rect">
            <a:avLst/>
          </a:prstGeom>
          <a:noFill/>
        </p:spPr>
        <p:txBody>
          <a:bodyPr wrap="square">
            <a:spAutoFit/>
          </a:bodyPr>
          <a:lstStyle/>
          <a:p>
            <a:pPr>
              <a:lnSpc>
                <a:spcPts val="5550"/>
              </a:lnSpc>
            </a:pPr>
            <a:r>
              <a:rPr lang="en-US" sz="3550" dirty="0">
                <a:solidFill>
                  <a:schemeClr val="tx1">
                    <a:lumMod val="85000"/>
                    <a:lumOff val="15000"/>
                  </a:schemeClr>
                </a:solidFill>
                <a:latin typeface="Times New Roman" panose="02020603050405020304" pitchFamily="18" charset="0"/>
                <a:cs typeface="Times New Roman" panose="02020603050405020304" pitchFamily="18" charset="0"/>
              </a:rPr>
              <a:t>Discounts and Sales Performance</a:t>
            </a:r>
          </a:p>
        </p:txBody>
      </p:sp>
      <p:grpSp>
        <p:nvGrpSpPr>
          <p:cNvPr id="17" name="Group 16">
            <a:extLst>
              <a:ext uri="{FF2B5EF4-FFF2-40B4-BE49-F238E27FC236}">
                <a16:creationId xmlns:a16="http://schemas.microsoft.com/office/drawing/2014/main" id="{A39A9A05-749E-3EE3-5145-8517551DF414}"/>
              </a:ext>
            </a:extLst>
          </p:cNvPr>
          <p:cNvGrpSpPr/>
          <p:nvPr/>
        </p:nvGrpSpPr>
        <p:grpSpPr>
          <a:xfrm>
            <a:off x="5446970" y="2145409"/>
            <a:ext cx="3717416" cy="2378268"/>
            <a:chOff x="4972170" y="1855066"/>
            <a:chExt cx="3717416" cy="2345459"/>
          </a:xfrm>
        </p:grpSpPr>
        <p:sp>
          <p:nvSpPr>
            <p:cNvPr id="7" name="Shape 1">
              <a:extLst>
                <a:ext uri="{FF2B5EF4-FFF2-40B4-BE49-F238E27FC236}">
                  <a16:creationId xmlns:a16="http://schemas.microsoft.com/office/drawing/2014/main" id="{FDDA9E4A-BB14-EC7D-2C20-930F7D818C41}"/>
                </a:ext>
              </a:extLst>
            </p:cNvPr>
            <p:cNvSpPr/>
            <p:nvPr/>
          </p:nvSpPr>
          <p:spPr>
            <a:xfrm>
              <a:off x="4972170" y="1855066"/>
              <a:ext cx="3664863" cy="2345459"/>
            </a:xfrm>
            <a:prstGeom prst="roundRect">
              <a:avLst>
                <a:gd name="adj" fmla="val 5654"/>
              </a:avLst>
            </a:prstGeom>
            <a:solidFill>
              <a:srgbClr val="E8E8E3"/>
            </a:solidFill>
            <a:ln w="7620">
              <a:solidFill>
                <a:srgbClr val="CECEC9"/>
              </a:solidFill>
              <a:prstDash val="solid"/>
            </a:ln>
          </p:spPr>
        </p:sp>
        <p:sp>
          <p:nvSpPr>
            <p:cNvPr id="8" name="Text 2">
              <a:extLst>
                <a:ext uri="{FF2B5EF4-FFF2-40B4-BE49-F238E27FC236}">
                  <a16:creationId xmlns:a16="http://schemas.microsoft.com/office/drawing/2014/main" id="{46EE0CA0-DB0C-EFF7-197E-1FD8B5A8FC68}"/>
                </a:ext>
              </a:extLst>
            </p:cNvPr>
            <p:cNvSpPr/>
            <p:nvPr/>
          </p:nvSpPr>
          <p:spPr>
            <a:xfrm>
              <a:off x="5097006" y="2047163"/>
              <a:ext cx="2585847" cy="354330"/>
            </a:xfrm>
            <a:prstGeom prst="rect">
              <a:avLst/>
            </a:prstGeom>
            <a:noFill/>
            <a:ln/>
          </p:spPr>
          <p:txBody>
            <a:bodyPr wrap="none" lIns="0" tIns="0" rIns="0" bIns="0" rtlCol="0" anchor="t"/>
            <a:lstStyle/>
            <a:p>
              <a:pPr>
                <a:lnSpc>
                  <a:spcPts val="2750"/>
                </a:lnSpc>
              </a:pPr>
              <a:r>
                <a:rPr lang="en-US" sz="2200" dirty="0">
                  <a:solidFill>
                    <a:srgbClr val="272525"/>
                  </a:solidFill>
                  <a:latin typeface="Book Antiqua" panose="02040602050305030304" pitchFamily="18" charset="0"/>
                  <a:ea typeface="Gelasio" pitchFamily="34" charset="-122"/>
                  <a:cs typeface="Gelasio" pitchFamily="34" charset="-120"/>
                </a:rPr>
                <a:t>Discounts</a:t>
              </a:r>
              <a:endParaRPr lang="en-US" sz="2200" dirty="0">
                <a:latin typeface="Book Antiqua" panose="02040602050305030304" pitchFamily="18" charset="0"/>
              </a:endParaRPr>
            </a:p>
          </p:txBody>
        </p:sp>
        <p:sp>
          <p:nvSpPr>
            <p:cNvPr id="9" name="Text 3">
              <a:extLst>
                <a:ext uri="{FF2B5EF4-FFF2-40B4-BE49-F238E27FC236}">
                  <a16:creationId xmlns:a16="http://schemas.microsoft.com/office/drawing/2014/main" id="{998ECF20-BD88-6923-1152-49489596ABB5}"/>
                </a:ext>
              </a:extLst>
            </p:cNvPr>
            <p:cNvSpPr/>
            <p:nvPr/>
          </p:nvSpPr>
          <p:spPr>
            <a:xfrm>
              <a:off x="5024723" y="2494123"/>
              <a:ext cx="3664863" cy="1582577"/>
            </a:xfrm>
            <a:prstGeom prst="rect">
              <a:avLst/>
            </a:prstGeom>
            <a:noFill/>
            <a:ln/>
          </p:spPr>
          <p:txBody>
            <a:bodyPr wrap="square" lIns="0" tIns="0" rIns="0" bIns="0" rtlCol="0" anchor="t"/>
            <a:lstStyle/>
            <a:p>
              <a:pPr>
                <a:lnSpc>
                  <a:spcPts val="2850"/>
                </a:lnSpc>
              </a:pPr>
              <a:r>
                <a:rPr lang="en-US" sz="1750" dirty="0">
                  <a:solidFill>
                    <a:schemeClr val="tx1">
                      <a:lumMod val="85000"/>
                      <a:lumOff val="15000"/>
                    </a:schemeClr>
                  </a:solidFill>
                  <a:latin typeface="Book Antiqua" panose="02040602050305030304" pitchFamily="18" charset="0"/>
                  <a:ea typeface="Lato" pitchFamily="34" charset="-122"/>
                  <a:cs typeface="Lato" pitchFamily="34" charset="-120"/>
                </a:rPr>
                <a:t>Steep discounts do not guarantee higher sales.</a:t>
              </a:r>
            </a:p>
            <a:p>
              <a:pPr>
                <a:lnSpc>
                  <a:spcPts val="2850"/>
                </a:lnSpc>
              </a:pPr>
              <a:r>
                <a:rPr lang="en-US" sz="1750" dirty="0">
                  <a:solidFill>
                    <a:schemeClr val="tx1">
                      <a:lumMod val="85000"/>
                      <a:lumOff val="15000"/>
                    </a:schemeClr>
                  </a:solidFill>
                  <a:latin typeface="Book Antiqua" panose="02040602050305030304" pitchFamily="18" charset="0"/>
                </a:rPr>
                <a:t>In some cases, extremely discounted products underperform.</a:t>
              </a:r>
            </a:p>
          </p:txBody>
        </p:sp>
      </p:grpSp>
      <p:sp>
        <p:nvSpPr>
          <p:cNvPr id="10" name="Shape 4">
            <a:extLst>
              <a:ext uri="{FF2B5EF4-FFF2-40B4-BE49-F238E27FC236}">
                <a16:creationId xmlns:a16="http://schemas.microsoft.com/office/drawing/2014/main" id="{DFAAA0F6-74F6-C438-2D38-4CF2A25C8D2D}"/>
              </a:ext>
            </a:extLst>
          </p:cNvPr>
          <p:cNvSpPr/>
          <p:nvPr/>
        </p:nvSpPr>
        <p:spPr>
          <a:xfrm>
            <a:off x="9164388" y="2141252"/>
            <a:ext cx="3209925" cy="2378269"/>
          </a:xfrm>
          <a:prstGeom prst="roundRect">
            <a:avLst>
              <a:gd name="adj" fmla="val 5654"/>
            </a:avLst>
          </a:prstGeom>
          <a:solidFill>
            <a:srgbClr val="E8E8E3"/>
          </a:solidFill>
          <a:ln w="7620">
            <a:solidFill>
              <a:srgbClr val="CECEC9"/>
            </a:solidFill>
            <a:prstDash val="solid"/>
          </a:ln>
        </p:spPr>
        <p:txBody>
          <a:bodyPr/>
          <a:lstStyle/>
          <a:p>
            <a:endParaRPr lang="en-US" dirty="0"/>
          </a:p>
        </p:txBody>
      </p:sp>
      <p:sp>
        <p:nvSpPr>
          <p:cNvPr id="11" name="Text 5">
            <a:extLst>
              <a:ext uri="{FF2B5EF4-FFF2-40B4-BE49-F238E27FC236}">
                <a16:creationId xmlns:a16="http://schemas.microsoft.com/office/drawing/2014/main" id="{288821F3-E01C-766D-74C4-070044DCE1E6}"/>
              </a:ext>
            </a:extLst>
          </p:cNvPr>
          <p:cNvSpPr/>
          <p:nvPr/>
        </p:nvSpPr>
        <p:spPr>
          <a:xfrm>
            <a:off x="9247447" y="2321800"/>
            <a:ext cx="2585847" cy="354330"/>
          </a:xfrm>
          <a:prstGeom prst="rect">
            <a:avLst/>
          </a:prstGeom>
          <a:noFill/>
          <a:ln/>
        </p:spPr>
        <p:txBody>
          <a:bodyPr wrap="none" lIns="0" tIns="0" rIns="0" bIns="0" rtlCol="0" anchor="t"/>
          <a:lstStyle/>
          <a:p>
            <a:pPr>
              <a:lnSpc>
                <a:spcPts val="2750"/>
              </a:lnSpc>
            </a:pPr>
            <a:r>
              <a:rPr lang="en-US" sz="2200" dirty="0">
                <a:solidFill>
                  <a:srgbClr val="272525"/>
                </a:solidFill>
                <a:latin typeface="Book Antiqua" panose="02040602050305030304" pitchFamily="18" charset="0"/>
                <a:ea typeface="Gelasio" pitchFamily="34" charset="-122"/>
                <a:cs typeface="Gelasio" pitchFamily="34" charset="-120"/>
              </a:rPr>
              <a:t>Optimal Range</a:t>
            </a:r>
            <a:endParaRPr lang="en-US" sz="2200" dirty="0">
              <a:latin typeface="Book Antiqua" panose="02040602050305030304" pitchFamily="18" charset="0"/>
            </a:endParaRPr>
          </a:p>
        </p:txBody>
      </p:sp>
      <p:sp>
        <p:nvSpPr>
          <p:cNvPr id="12" name="Text 6">
            <a:extLst>
              <a:ext uri="{FF2B5EF4-FFF2-40B4-BE49-F238E27FC236}">
                <a16:creationId xmlns:a16="http://schemas.microsoft.com/office/drawing/2014/main" id="{8D042180-B1B5-5D90-AB82-E59F3F3F4836}"/>
              </a:ext>
            </a:extLst>
          </p:cNvPr>
          <p:cNvSpPr/>
          <p:nvPr/>
        </p:nvSpPr>
        <p:spPr>
          <a:xfrm>
            <a:off x="9247446" y="2812220"/>
            <a:ext cx="2914874" cy="1539119"/>
          </a:xfrm>
          <a:prstGeom prst="rect">
            <a:avLst/>
          </a:prstGeom>
          <a:noFill/>
          <a:ln/>
        </p:spPr>
        <p:txBody>
          <a:bodyPr wrap="square" lIns="0" tIns="0" rIns="0" bIns="0" rtlCol="0" anchor="t"/>
          <a:lstStyle/>
          <a:p>
            <a:pPr>
              <a:lnSpc>
                <a:spcPts val="2850"/>
              </a:lnSpc>
            </a:pPr>
            <a:r>
              <a:rPr lang="en-US" sz="1750" dirty="0">
                <a:solidFill>
                  <a:schemeClr val="tx1">
                    <a:lumMod val="75000"/>
                    <a:lumOff val="25000"/>
                  </a:schemeClr>
                </a:solidFill>
                <a:latin typeface="Book Antiqua" panose="02040602050305030304" pitchFamily="18" charset="0"/>
                <a:ea typeface="Lato" pitchFamily="34" charset="-122"/>
                <a:cs typeface="Lato" pitchFamily="34" charset="-120"/>
              </a:rPr>
              <a:t>Moderate discounts (10%-30%) perform best </a:t>
            </a:r>
            <a:r>
              <a:rPr lang="en-US" kern="100" dirty="0">
                <a:solidFill>
                  <a:schemeClr val="tx1">
                    <a:lumMod val="75000"/>
                    <a:lumOff val="25000"/>
                  </a:schemeClr>
                </a:solidFill>
                <a:latin typeface="Book Antiqua" panose="02040602050305030304" pitchFamily="18" charset="0"/>
                <a:ea typeface="Aptos" panose="020B0004020202020204" pitchFamily="34" charset="0"/>
                <a:cs typeface="Arial" panose="020B0604020202020204" pitchFamily="34" charset="0"/>
              </a:rPr>
              <a:t>in price-sensitive segments instead of blanket deep cuts</a:t>
            </a:r>
            <a:r>
              <a:rPr lang="en-US" kern="100" dirty="0">
                <a:latin typeface="Book Antiqua" panose="02040602050305030304" pitchFamily="18" charset="0"/>
                <a:ea typeface="Aptos" panose="020B0004020202020204" pitchFamily="34" charset="0"/>
                <a:cs typeface="Arial" panose="020B0604020202020204" pitchFamily="34" charset="0"/>
              </a:rPr>
              <a:t>.</a:t>
            </a:r>
          </a:p>
        </p:txBody>
      </p:sp>
      <p:grpSp>
        <p:nvGrpSpPr>
          <p:cNvPr id="16" name="Group 15">
            <a:extLst>
              <a:ext uri="{FF2B5EF4-FFF2-40B4-BE49-F238E27FC236}">
                <a16:creationId xmlns:a16="http://schemas.microsoft.com/office/drawing/2014/main" id="{8A00F4E8-62A3-6EC0-37DE-E847A2B67902}"/>
              </a:ext>
            </a:extLst>
          </p:cNvPr>
          <p:cNvGrpSpPr/>
          <p:nvPr/>
        </p:nvGrpSpPr>
        <p:grpSpPr>
          <a:xfrm>
            <a:off x="5449918" y="4667261"/>
            <a:ext cx="6891754" cy="1604715"/>
            <a:chOff x="4862573" y="4398651"/>
            <a:chExt cx="6891754" cy="1322189"/>
          </a:xfrm>
        </p:grpSpPr>
        <p:sp>
          <p:nvSpPr>
            <p:cNvPr id="13" name="Shape 7">
              <a:extLst>
                <a:ext uri="{FF2B5EF4-FFF2-40B4-BE49-F238E27FC236}">
                  <a16:creationId xmlns:a16="http://schemas.microsoft.com/office/drawing/2014/main" id="{E97AE56F-CAC1-B510-CF54-2F5A299001BE}"/>
                </a:ext>
              </a:extLst>
            </p:cNvPr>
            <p:cNvSpPr/>
            <p:nvPr/>
          </p:nvSpPr>
          <p:spPr>
            <a:xfrm>
              <a:off x="4862573" y="4398651"/>
              <a:ext cx="6891754" cy="1322189"/>
            </a:xfrm>
            <a:prstGeom prst="roundRect">
              <a:avLst>
                <a:gd name="adj" fmla="val 7205"/>
              </a:avLst>
            </a:prstGeom>
            <a:solidFill>
              <a:srgbClr val="E8E8E3"/>
            </a:solidFill>
            <a:ln w="7620">
              <a:solidFill>
                <a:srgbClr val="CECEC9"/>
              </a:solidFill>
              <a:prstDash val="solid"/>
            </a:ln>
          </p:spPr>
        </p:sp>
        <p:sp>
          <p:nvSpPr>
            <p:cNvPr id="14" name="Text 8">
              <a:extLst>
                <a:ext uri="{FF2B5EF4-FFF2-40B4-BE49-F238E27FC236}">
                  <a16:creationId xmlns:a16="http://schemas.microsoft.com/office/drawing/2014/main" id="{86A71B93-265B-2A35-C45C-978058F9BCE9}"/>
                </a:ext>
              </a:extLst>
            </p:cNvPr>
            <p:cNvSpPr/>
            <p:nvPr/>
          </p:nvSpPr>
          <p:spPr>
            <a:xfrm>
              <a:off x="5086349" y="4453773"/>
              <a:ext cx="2585847" cy="354330"/>
            </a:xfrm>
            <a:prstGeom prst="rect">
              <a:avLst/>
            </a:prstGeom>
            <a:noFill/>
            <a:ln/>
          </p:spPr>
          <p:txBody>
            <a:bodyPr wrap="none" lIns="0" tIns="0" rIns="0" bIns="0" rtlCol="0" anchor="t"/>
            <a:lstStyle/>
            <a:p>
              <a:pPr>
                <a:lnSpc>
                  <a:spcPts val="2750"/>
                </a:lnSpc>
              </a:pPr>
              <a:r>
                <a:rPr lang="en-US" sz="2200" dirty="0">
                  <a:solidFill>
                    <a:srgbClr val="272525"/>
                  </a:solidFill>
                  <a:latin typeface="Book Antiqua" panose="02040602050305030304" pitchFamily="18" charset="0"/>
                  <a:ea typeface="Gelasio" pitchFamily="34" charset="-122"/>
                  <a:cs typeface="Gelasio" pitchFamily="34" charset="-120"/>
                </a:rPr>
                <a:t>Recommendation</a:t>
              </a:r>
              <a:endParaRPr lang="en-US" sz="2200" dirty="0">
                <a:latin typeface="Book Antiqua" panose="02040602050305030304" pitchFamily="18" charset="0"/>
              </a:endParaRPr>
            </a:p>
          </p:txBody>
        </p:sp>
        <p:sp>
          <p:nvSpPr>
            <p:cNvPr id="15" name="Text 9">
              <a:extLst>
                <a:ext uri="{FF2B5EF4-FFF2-40B4-BE49-F238E27FC236}">
                  <a16:creationId xmlns:a16="http://schemas.microsoft.com/office/drawing/2014/main" id="{A115702C-6A28-1967-2A22-FCA712A1B69F}"/>
                </a:ext>
              </a:extLst>
            </p:cNvPr>
            <p:cNvSpPr/>
            <p:nvPr/>
          </p:nvSpPr>
          <p:spPr>
            <a:xfrm>
              <a:off x="4862573" y="4745501"/>
              <a:ext cx="6464128" cy="714593"/>
            </a:xfrm>
            <a:prstGeom prst="rect">
              <a:avLst/>
            </a:prstGeom>
            <a:noFill/>
            <a:ln/>
          </p:spPr>
          <p:txBody>
            <a:bodyPr wrap="none" lIns="0" tIns="0" rIns="0" bIns="0" rtlCol="0" anchor="t"/>
            <a:lstStyle/>
            <a:p>
              <a:pPr>
                <a:lnSpc>
                  <a:spcPts val="2850"/>
                </a:lnSpc>
              </a:pPr>
              <a:r>
                <a:rPr lang="en-US" sz="1750" dirty="0">
                  <a:solidFill>
                    <a:srgbClr val="272525"/>
                  </a:solidFill>
                  <a:latin typeface="Book Antiqua" panose="02040602050305030304" pitchFamily="18" charset="0"/>
                  <a:ea typeface="Lato" pitchFamily="34" charset="-122"/>
                  <a:cs typeface="Lato" pitchFamily="34" charset="-120"/>
                </a:rPr>
                <a:t>• Monitor competitor pricing and adjust offers to remain competitive.</a:t>
              </a:r>
            </a:p>
            <a:p>
              <a:pPr>
                <a:lnSpc>
                  <a:spcPts val="2850"/>
                </a:lnSpc>
              </a:pPr>
              <a:r>
                <a:rPr lang="en-US" sz="1750" dirty="0">
                  <a:solidFill>
                    <a:srgbClr val="272525"/>
                  </a:solidFill>
                  <a:latin typeface="Book Antiqua" panose="02040602050305030304" pitchFamily="18" charset="0"/>
                  <a:ea typeface="Lato" pitchFamily="34" charset="-122"/>
                  <a:cs typeface="Lato" pitchFamily="34" charset="-120"/>
                </a:rPr>
                <a:t>• Perform A/B testing of pricing strategies within</a:t>
              </a:r>
            </a:p>
            <a:p>
              <a:pPr>
                <a:lnSpc>
                  <a:spcPts val="2850"/>
                </a:lnSpc>
              </a:pPr>
              <a:r>
                <a:rPr lang="en-US" sz="1750" dirty="0">
                  <a:solidFill>
                    <a:srgbClr val="272525"/>
                  </a:solidFill>
                  <a:latin typeface="Book Antiqua" panose="02040602050305030304" pitchFamily="18" charset="0"/>
                  <a:ea typeface="Lato" pitchFamily="34" charset="-122"/>
                  <a:cs typeface="Lato" pitchFamily="34" charset="-120"/>
                </a:rPr>
                <a:t> 10%-30% discount range.</a:t>
              </a:r>
            </a:p>
          </p:txBody>
        </p:sp>
      </p:grpSp>
    </p:spTree>
    <p:extLst>
      <p:ext uri="{BB962C8B-B14F-4D97-AF65-F5344CB8AC3E}">
        <p14:creationId xmlns:p14="http://schemas.microsoft.com/office/powerpoint/2010/main" val="18775938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57DFB7-5273-77F6-F1C7-F3FC68141F23}"/>
              </a:ext>
            </a:extLst>
          </p:cNvPr>
          <p:cNvSpPr txBox="1"/>
          <p:nvPr/>
        </p:nvSpPr>
        <p:spPr>
          <a:xfrm>
            <a:off x="643214" y="938501"/>
            <a:ext cx="5965095" cy="646331"/>
          </a:xfrm>
          <a:prstGeom prst="rect">
            <a:avLst/>
          </a:prstGeom>
          <a:noFill/>
        </p:spPr>
        <p:txBody>
          <a:bodyPr wrap="none" rtlCol="0">
            <a:spAutoFit/>
          </a:bodyPr>
          <a:lstStyle/>
          <a:p>
            <a:r>
              <a:rPr lang="en-US" sz="3600" dirty="0">
                <a:latin typeface="Book Antiqua" panose="02040602050305030304" pitchFamily="18" charset="0"/>
                <a:cs typeface="Times New Roman" panose="02020603050405020304" pitchFamily="18" charset="0"/>
              </a:rPr>
              <a:t>Price Range &amp; Sales Volume</a:t>
            </a:r>
          </a:p>
        </p:txBody>
      </p:sp>
      <p:sp>
        <p:nvSpPr>
          <p:cNvPr id="6" name="TextBox 5">
            <a:extLst>
              <a:ext uri="{FF2B5EF4-FFF2-40B4-BE49-F238E27FC236}">
                <a16:creationId xmlns:a16="http://schemas.microsoft.com/office/drawing/2014/main" id="{6B9C9C48-531B-941F-01F6-921036B9152F}"/>
              </a:ext>
            </a:extLst>
          </p:cNvPr>
          <p:cNvSpPr txBox="1"/>
          <p:nvPr/>
        </p:nvSpPr>
        <p:spPr>
          <a:xfrm>
            <a:off x="3306762" y="3518971"/>
            <a:ext cx="6096000" cy="369332"/>
          </a:xfrm>
          <a:prstGeom prst="rect">
            <a:avLst/>
          </a:prstGeom>
          <a:noFill/>
        </p:spPr>
        <p:txBody>
          <a:bodyPr wrap="square">
            <a:spAutoFit/>
          </a:bodyPr>
          <a:lstStyle/>
          <a:p>
            <a:endParaRPr lang="en-US" dirty="0"/>
          </a:p>
        </p:txBody>
      </p:sp>
      <p:sp>
        <p:nvSpPr>
          <p:cNvPr id="13" name="TextBox 12">
            <a:extLst>
              <a:ext uri="{FF2B5EF4-FFF2-40B4-BE49-F238E27FC236}">
                <a16:creationId xmlns:a16="http://schemas.microsoft.com/office/drawing/2014/main" id="{7BBAE8DB-317C-770E-32CE-1BD5A44A0CA8}"/>
              </a:ext>
            </a:extLst>
          </p:cNvPr>
          <p:cNvSpPr txBox="1"/>
          <p:nvPr/>
        </p:nvSpPr>
        <p:spPr>
          <a:xfrm>
            <a:off x="643212" y="1966009"/>
            <a:ext cx="6721200" cy="4093428"/>
          </a:xfrm>
          <a:prstGeom prst="rect">
            <a:avLst/>
          </a:prstGeom>
          <a:noFill/>
        </p:spPr>
        <p:txBody>
          <a:bodyPr wrap="square">
            <a:spAutoFit/>
          </a:bodyPr>
          <a:lstStyle/>
          <a:p>
            <a:r>
              <a:rPr lang="en-US" sz="2000" dirty="0"/>
              <a:t>The highest sales volumes are concentrated in the $0–$500 price range.</a:t>
            </a:r>
          </a:p>
          <a:p>
            <a:endParaRPr lang="en-US" sz="2000" dirty="0"/>
          </a:p>
          <a:p>
            <a:pPr>
              <a:buFont typeface="Arial" panose="020B0604020202020204" pitchFamily="34" charset="0"/>
              <a:buChar char="•"/>
            </a:pPr>
            <a:r>
              <a:rPr lang="en-US" sz="2000" dirty="0"/>
              <a:t>    </a:t>
            </a:r>
            <a:r>
              <a:rPr lang="en-US" sz="2000" i="1" dirty="0"/>
              <a:t>Price vs Sales Units</a:t>
            </a:r>
            <a:r>
              <a:rPr lang="en-US" sz="2000" dirty="0"/>
              <a:t>: Most products with high unit sales are priced below $500.</a:t>
            </a:r>
          </a:p>
          <a:p>
            <a:pPr>
              <a:buFont typeface="Arial" panose="020B0604020202020204" pitchFamily="34" charset="0"/>
              <a:buChar char="•"/>
            </a:pPr>
            <a:r>
              <a:rPr lang="en-US" sz="2000" i="1" dirty="0"/>
              <a:t>  Price vs Rating</a:t>
            </a:r>
            <a:r>
              <a:rPr lang="en-US" sz="2000" dirty="0"/>
              <a:t>: Well-rated products are also predominantly within this price bracket.</a:t>
            </a:r>
          </a:p>
          <a:p>
            <a:pPr>
              <a:buFont typeface="Arial" panose="020B0604020202020204" pitchFamily="34" charset="0"/>
              <a:buChar char="•"/>
            </a:pPr>
            <a:endParaRPr lang="en-US" sz="2000" dirty="0"/>
          </a:p>
          <a:p>
            <a:r>
              <a:rPr lang="en-US" sz="2000" b="1" dirty="0"/>
              <a:t>Insight:</a:t>
            </a:r>
            <a:r>
              <a:rPr lang="en-US" sz="2000" dirty="0"/>
              <a:t> Budget and mid-range phones dominate consumer interest, while premium-priced phones see significantly lower volume.</a:t>
            </a:r>
          </a:p>
          <a:p>
            <a:pPr>
              <a:buFont typeface="Arial" panose="020B0604020202020204" pitchFamily="34" charset="0"/>
              <a:buChar char="•"/>
            </a:pPr>
            <a:endParaRPr lang="en-US" sz="2000" dirty="0"/>
          </a:p>
          <a:p>
            <a:endParaRPr lang="en-US" sz="2000" dirty="0"/>
          </a:p>
        </p:txBody>
      </p:sp>
      <p:pic>
        <p:nvPicPr>
          <p:cNvPr id="17" name="Picture 16" descr="A graph of sales and prices&#10;&#10;AI-generated content may be incorrect.">
            <a:extLst>
              <a:ext uri="{FF2B5EF4-FFF2-40B4-BE49-F238E27FC236}">
                <a16:creationId xmlns:a16="http://schemas.microsoft.com/office/drawing/2014/main" id="{E18B4888-2A0C-BCAF-7EE5-E56B11576187}"/>
              </a:ext>
            </a:extLst>
          </p:cNvPr>
          <p:cNvPicPr>
            <a:picLocks noChangeAspect="1"/>
          </p:cNvPicPr>
          <p:nvPr/>
        </p:nvPicPr>
        <p:blipFill>
          <a:blip r:embed="rId2"/>
          <a:stretch>
            <a:fillRect/>
          </a:stretch>
        </p:blipFill>
        <p:spPr>
          <a:xfrm>
            <a:off x="8416654" y="4265418"/>
            <a:ext cx="3877216" cy="2781688"/>
          </a:xfrm>
          <a:prstGeom prst="rect">
            <a:avLst/>
          </a:prstGeom>
        </p:spPr>
      </p:pic>
      <p:pic>
        <p:nvPicPr>
          <p:cNvPr id="19" name="Picture 18">
            <a:extLst>
              <a:ext uri="{FF2B5EF4-FFF2-40B4-BE49-F238E27FC236}">
                <a16:creationId xmlns:a16="http://schemas.microsoft.com/office/drawing/2014/main" id="{F100CCC6-D1C2-6B47-66DD-DCB5E43359FE}"/>
              </a:ext>
            </a:extLst>
          </p:cNvPr>
          <p:cNvPicPr>
            <a:picLocks noChangeAspect="1"/>
          </p:cNvPicPr>
          <p:nvPr/>
        </p:nvPicPr>
        <p:blipFill>
          <a:blip r:embed="rId3"/>
          <a:stretch>
            <a:fillRect/>
          </a:stretch>
        </p:blipFill>
        <p:spPr>
          <a:xfrm>
            <a:off x="8421417" y="782601"/>
            <a:ext cx="3867690" cy="2896004"/>
          </a:xfrm>
          <a:prstGeom prst="rect">
            <a:avLst/>
          </a:prstGeom>
        </p:spPr>
      </p:pic>
    </p:spTree>
    <p:extLst>
      <p:ext uri="{BB962C8B-B14F-4D97-AF65-F5344CB8AC3E}">
        <p14:creationId xmlns:p14="http://schemas.microsoft.com/office/powerpoint/2010/main" val="80600695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FB252DDE-05B6-0BEA-3F1C-4B6EFBB067C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E50D214-05E6-8322-0993-2CF6FD37900F}"/>
              </a:ext>
            </a:extLst>
          </p:cNvPr>
          <p:cNvSpPr txBox="1"/>
          <p:nvPr/>
        </p:nvSpPr>
        <p:spPr>
          <a:xfrm>
            <a:off x="643214" y="938501"/>
            <a:ext cx="5965095" cy="646331"/>
          </a:xfrm>
          <a:prstGeom prst="rect">
            <a:avLst/>
          </a:prstGeom>
          <a:noFill/>
        </p:spPr>
        <p:txBody>
          <a:bodyPr wrap="none" rtlCol="0">
            <a:spAutoFit/>
          </a:bodyPr>
          <a:lstStyle/>
          <a:p>
            <a:r>
              <a:rPr lang="en-US" sz="3600" dirty="0">
                <a:latin typeface="Book Antiqua" panose="02040602050305030304" pitchFamily="18" charset="0"/>
                <a:cs typeface="Times New Roman" panose="02020603050405020304" pitchFamily="18" charset="0"/>
              </a:rPr>
              <a:t>Price Range &amp; Sales Volume</a:t>
            </a:r>
          </a:p>
        </p:txBody>
      </p:sp>
      <p:sp>
        <p:nvSpPr>
          <p:cNvPr id="6" name="TextBox 5">
            <a:extLst>
              <a:ext uri="{FF2B5EF4-FFF2-40B4-BE49-F238E27FC236}">
                <a16:creationId xmlns:a16="http://schemas.microsoft.com/office/drawing/2014/main" id="{ECBC18ED-6050-3ACC-0D31-59D411942287}"/>
              </a:ext>
            </a:extLst>
          </p:cNvPr>
          <p:cNvSpPr txBox="1"/>
          <p:nvPr/>
        </p:nvSpPr>
        <p:spPr>
          <a:xfrm>
            <a:off x="3306762" y="3518971"/>
            <a:ext cx="6096000" cy="369332"/>
          </a:xfrm>
          <a:prstGeom prst="rect">
            <a:avLst/>
          </a:prstGeom>
          <a:noFill/>
        </p:spPr>
        <p:txBody>
          <a:bodyPr wrap="square">
            <a:spAutoFit/>
          </a:bodyPr>
          <a:lstStyle/>
          <a:p>
            <a:endParaRPr lang="en-US" dirty="0"/>
          </a:p>
        </p:txBody>
      </p:sp>
      <p:sp>
        <p:nvSpPr>
          <p:cNvPr id="8" name="TextBox 7">
            <a:extLst>
              <a:ext uri="{FF2B5EF4-FFF2-40B4-BE49-F238E27FC236}">
                <a16:creationId xmlns:a16="http://schemas.microsoft.com/office/drawing/2014/main" id="{F561D26D-7EF7-653E-EE29-AF8B57E2A34D}"/>
              </a:ext>
            </a:extLst>
          </p:cNvPr>
          <p:cNvSpPr txBox="1"/>
          <p:nvPr/>
        </p:nvSpPr>
        <p:spPr>
          <a:xfrm>
            <a:off x="3306762" y="3518971"/>
            <a:ext cx="6096000" cy="369332"/>
          </a:xfrm>
          <a:prstGeom prst="rect">
            <a:avLst/>
          </a:prstGeom>
          <a:noFill/>
        </p:spPr>
        <p:txBody>
          <a:bodyPr wrap="square">
            <a:spAutoFit/>
          </a:bodyPr>
          <a:lstStyle/>
          <a:p>
            <a:endParaRPr lang="en-US" dirty="0"/>
          </a:p>
        </p:txBody>
      </p:sp>
      <p:pic>
        <p:nvPicPr>
          <p:cNvPr id="9" name="Image 0">
            <a:extLst>
              <a:ext uri="{FF2B5EF4-FFF2-40B4-BE49-F238E27FC236}">
                <a16:creationId xmlns:a16="http://schemas.microsoft.com/office/drawing/2014/main" id="{98A99DF1-4423-6A8A-1B8F-186FB4DBCF84}"/>
              </a:ext>
            </a:extLst>
          </p:cNvPr>
          <p:cNvPicPr>
            <a:picLocks noChangeAspect="1"/>
          </p:cNvPicPr>
          <p:nvPr/>
        </p:nvPicPr>
        <p:blipFill>
          <a:blip r:embed="rId2"/>
          <a:stretch>
            <a:fillRect/>
          </a:stretch>
        </p:blipFill>
        <p:spPr>
          <a:xfrm>
            <a:off x="7223125" y="760412"/>
            <a:ext cx="5486400" cy="8229600"/>
          </a:xfrm>
          <a:prstGeom prst="rect">
            <a:avLst/>
          </a:prstGeom>
        </p:spPr>
      </p:pic>
      <p:sp>
        <p:nvSpPr>
          <p:cNvPr id="13" name="TextBox 12">
            <a:extLst>
              <a:ext uri="{FF2B5EF4-FFF2-40B4-BE49-F238E27FC236}">
                <a16:creationId xmlns:a16="http://schemas.microsoft.com/office/drawing/2014/main" id="{48AEEF86-F935-6A18-F989-AEA0D358FC24}"/>
              </a:ext>
            </a:extLst>
          </p:cNvPr>
          <p:cNvSpPr txBox="1"/>
          <p:nvPr/>
        </p:nvSpPr>
        <p:spPr>
          <a:xfrm>
            <a:off x="643212" y="1966009"/>
            <a:ext cx="6721200" cy="400110"/>
          </a:xfrm>
          <a:prstGeom prst="rect">
            <a:avLst/>
          </a:prstGeom>
          <a:noFill/>
        </p:spPr>
        <p:txBody>
          <a:bodyPr wrap="square">
            <a:spAutoFit/>
          </a:bodyPr>
          <a:lstStyle/>
          <a:p>
            <a:endParaRPr lang="en-US" sz="2000" dirty="0"/>
          </a:p>
        </p:txBody>
      </p:sp>
      <p:sp>
        <p:nvSpPr>
          <p:cNvPr id="16" name="Rectangle 10">
            <a:extLst>
              <a:ext uri="{FF2B5EF4-FFF2-40B4-BE49-F238E27FC236}">
                <a16:creationId xmlns:a16="http://schemas.microsoft.com/office/drawing/2014/main" id="{39D7C92E-309A-322F-411C-6C2B2C45D433}"/>
              </a:ext>
            </a:extLst>
          </p:cNvPr>
          <p:cNvSpPr>
            <a:spLocks noChangeArrowheads="1"/>
          </p:cNvSpPr>
          <p:nvPr/>
        </p:nvSpPr>
        <p:spPr bwMode="auto">
          <a:xfrm rot="10800000" flipV="1">
            <a:off x="643213" y="1746861"/>
            <a:ext cx="6480451"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400" b="1" dirty="0">
                <a:latin typeface="Book Antiqua" panose="02040602050305030304" pitchFamily="18" charset="0"/>
                <a:cs typeface="Times New Roman" panose="02020603050405020304" pitchFamily="18" charset="0"/>
              </a:rPr>
              <a:t>Recommendations</a:t>
            </a:r>
            <a:r>
              <a:rPr lang="en-US" altLang="en-US" b="1" dirty="0">
                <a:latin typeface="Arial" panose="020B0604020202020204" pitchFamily="34" charset="0"/>
              </a:rPr>
              <a:t>:</a:t>
            </a:r>
          </a:p>
          <a:p>
            <a:pPr defTabSz="914400" eaLnBrk="0" fontAlgn="base" hangingPunct="0">
              <a:spcBef>
                <a:spcPct val="0"/>
              </a:spcBef>
              <a:spcAft>
                <a:spcPct val="0"/>
              </a:spcAft>
            </a:pPr>
            <a:endParaRPr lang="en-US" altLang="en-US" dirty="0">
              <a:latin typeface="Arial" panose="020B0604020202020204" pitchFamily="34" charset="0"/>
            </a:endParaRPr>
          </a:p>
          <a:p>
            <a:pPr defTabSz="914400" eaLnBrk="0" fontAlgn="base" hangingPunct="0">
              <a:spcBef>
                <a:spcPct val="0"/>
              </a:spcBef>
              <a:spcAft>
                <a:spcPct val="0"/>
              </a:spcAft>
              <a:buFontTx/>
              <a:buChar char="•"/>
            </a:pPr>
            <a:r>
              <a:rPr lang="en-US" altLang="en-US" dirty="0">
                <a:latin typeface="Arial" panose="020B0604020202020204" pitchFamily="34" charset="0"/>
              </a:rPr>
              <a:t>Focus marketing, promotions, and inventory stocking within the $0–$500 range</a:t>
            </a:r>
          </a:p>
          <a:p>
            <a:pPr defTabSz="914400" eaLnBrk="0" fontAlgn="base" hangingPunct="0">
              <a:spcBef>
                <a:spcPct val="0"/>
              </a:spcBef>
              <a:spcAft>
                <a:spcPct val="0"/>
              </a:spcAft>
            </a:pPr>
            <a:endParaRPr lang="en-US" altLang="en-US" dirty="0">
              <a:latin typeface="Arial" panose="020B0604020202020204" pitchFamily="34" charset="0"/>
            </a:endParaRPr>
          </a:p>
          <a:p>
            <a:pPr defTabSz="914400" eaLnBrk="0" fontAlgn="base" hangingPunct="0">
              <a:spcBef>
                <a:spcPct val="0"/>
              </a:spcBef>
              <a:spcAft>
                <a:spcPct val="0"/>
              </a:spcAft>
              <a:buFontTx/>
              <a:buChar char="•"/>
            </a:pPr>
            <a:r>
              <a:rPr lang="en-US" altLang="en-US" dirty="0">
                <a:latin typeface="Arial" panose="020B0604020202020204" pitchFamily="34" charset="0"/>
              </a:rPr>
              <a:t>Position higher-priced phones as luxury or flagship offerings with enhanced features or bundles to justify pricing.</a:t>
            </a:r>
          </a:p>
          <a:p>
            <a:pPr defTabSz="914400" eaLnBrk="0" fontAlgn="base" hangingPunct="0">
              <a:spcBef>
                <a:spcPct val="0"/>
              </a:spcBef>
              <a:spcAft>
                <a:spcPct val="0"/>
              </a:spcAft>
            </a:pPr>
            <a:endParaRPr lang="en-US" altLang="en-US" dirty="0">
              <a:latin typeface="Arial" panose="020B0604020202020204" pitchFamily="34" charset="0"/>
            </a:endParaRPr>
          </a:p>
          <a:p>
            <a:pPr defTabSz="914400" eaLnBrk="0" fontAlgn="base" hangingPunct="0">
              <a:spcBef>
                <a:spcPct val="0"/>
              </a:spcBef>
              <a:spcAft>
                <a:spcPct val="0"/>
              </a:spcAft>
              <a:buFontTx/>
              <a:buChar char="•"/>
            </a:pPr>
            <a:r>
              <a:rPr lang="en-US" altLang="en-US" dirty="0">
                <a:latin typeface="Arial" panose="020B0604020202020204" pitchFamily="34" charset="0"/>
              </a:rPr>
              <a:t>Introduce more competitive products in the $200–$500 sweet spot for volume and margin balance.</a:t>
            </a:r>
          </a:p>
          <a:p>
            <a:pPr defTabSz="91440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2622877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3E0043E7-89C1-9029-B801-0EE227383E86}"/>
            </a:ext>
          </a:extLst>
        </p:cNvPr>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1C9E5B45-9A4F-23CF-724A-52DD1D45D550}"/>
              </a:ext>
            </a:extLst>
          </p:cNvPr>
          <p:cNvPicPr>
            <a:picLocks noChangeAspect="1"/>
          </p:cNvPicPr>
          <p:nvPr/>
        </p:nvPicPr>
        <p:blipFill>
          <a:blip r:embed="rId2"/>
          <a:stretch>
            <a:fillRect/>
          </a:stretch>
        </p:blipFill>
        <p:spPr>
          <a:xfrm>
            <a:off x="258762" y="274639"/>
            <a:ext cx="12435196" cy="2409825"/>
          </a:xfrm>
          <a:prstGeom prst="rect">
            <a:avLst/>
          </a:prstGeom>
        </p:spPr>
      </p:pic>
      <p:sp>
        <p:nvSpPr>
          <p:cNvPr id="5" name="Text 0">
            <a:extLst>
              <a:ext uri="{FF2B5EF4-FFF2-40B4-BE49-F238E27FC236}">
                <a16:creationId xmlns:a16="http://schemas.microsoft.com/office/drawing/2014/main" id="{85DD7219-1B67-FDFA-C29F-C167F4154AAC}"/>
              </a:ext>
            </a:extLst>
          </p:cNvPr>
          <p:cNvSpPr/>
          <p:nvPr/>
        </p:nvSpPr>
        <p:spPr>
          <a:xfrm>
            <a:off x="395329" y="2970407"/>
            <a:ext cx="6951821" cy="708779"/>
          </a:xfrm>
          <a:prstGeom prst="rect">
            <a:avLst/>
          </a:prstGeom>
          <a:noFill/>
          <a:ln/>
        </p:spPr>
        <p:txBody>
          <a:bodyPr wrap="none" lIns="0" tIns="0" rIns="0" bIns="0" rtlCol="0" anchor="t"/>
          <a:lstStyle/>
          <a:p>
            <a:pPr defTabSz="914400">
              <a:lnSpc>
                <a:spcPts val="5550"/>
              </a:lnSpc>
            </a:pPr>
            <a:r>
              <a:rPr lang="en-US" sz="4450" kern="0" dirty="0">
                <a:solidFill>
                  <a:srgbClr val="312F2B"/>
                </a:solidFill>
                <a:latin typeface="Book Antiqua" panose="02040602050305030304" pitchFamily="18" charset="0"/>
                <a:ea typeface="Gelasio" pitchFamily="34" charset="-122"/>
                <a:cs typeface="Times New Roman" panose="02020603050405020304" pitchFamily="18" charset="0"/>
              </a:rPr>
              <a:t>Shipping &amp; Prime Influence</a:t>
            </a:r>
            <a:endParaRPr lang="en-US" sz="4450" kern="0" dirty="0">
              <a:solidFill>
                <a:prstClr val="black"/>
              </a:solidFill>
              <a:latin typeface="Book Antiqua" panose="0204060205030503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B054B33C-7B7B-5C2D-3DCA-9F86FE01A360}"/>
              </a:ext>
            </a:extLst>
          </p:cNvPr>
          <p:cNvGrpSpPr/>
          <p:nvPr/>
        </p:nvGrpSpPr>
        <p:grpSpPr>
          <a:xfrm>
            <a:off x="243948" y="3902268"/>
            <a:ext cx="4040684" cy="2813059"/>
            <a:chOff x="56674" y="4093846"/>
            <a:chExt cx="4040684" cy="2813059"/>
          </a:xfrm>
        </p:grpSpPr>
        <p:sp>
          <p:nvSpPr>
            <p:cNvPr id="6" name="Shape 1">
              <a:extLst>
                <a:ext uri="{FF2B5EF4-FFF2-40B4-BE49-F238E27FC236}">
                  <a16:creationId xmlns:a16="http://schemas.microsoft.com/office/drawing/2014/main" id="{B643C978-8466-9B28-D735-53BDB7810A50}"/>
                </a:ext>
              </a:extLst>
            </p:cNvPr>
            <p:cNvSpPr/>
            <p:nvPr/>
          </p:nvSpPr>
          <p:spPr>
            <a:xfrm>
              <a:off x="56674" y="4093846"/>
              <a:ext cx="510302" cy="510302"/>
            </a:xfrm>
            <a:prstGeom prst="roundRect">
              <a:avLst>
                <a:gd name="adj" fmla="val 18669"/>
              </a:avLst>
            </a:prstGeom>
            <a:solidFill>
              <a:srgbClr val="E8E8E3"/>
            </a:solidFill>
            <a:ln w="7620">
              <a:solidFill>
                <a:srgbClr val="CECEC9"/>
              </a:solidFill>
              <a:prstDash val="solid"/>
            </a:ln>
          </p:spPr>
        </p:sp>
        <p:sp>
          <p:nvSpPr>
            <p:cNvPr id="7" name="Text 2">
              <a:extLst>
                <a:ext uri="{FF2B5EF4-FFF2-40B4-BE49-F238E27FC236}">
                  <a16:creationId xmlns:a16="http://schemas.microsoft.com/office/drawing/2014/main" id="{A32631F9-8208-F8F5-07D5-DCBD78DB1B0B}"/>
                </a:ext>
              </a:extLst>
            </p:cNvPr>
            <p:cNvSpPr/>
            <p:nvPr/>
          </p:nvSpPr>
          <p:spPr>
            <a:xfrm>
              <a:off x="793790" y="4093846"/>
              <a:ext cx="2835235" cy="354330"/>
            </a:xfrm>
            <a:prstGeom prst="rect">
              <a:avLst/>
            </a:prstGeom>
            <a:noFill/>
            <a:ln/>
          </p:spPr>
          <p:txBody>
            <a:bodyPr wrap="none" lIns="0" tIns="0" rIns="0" bIns="0" rtlCol="0" anchor="t"/>
            <a:lstStyle/>
            <a:p>
              <a:pPr>
                <a:lnSpc>
                  <a:spcPts val="2750"/>
                </a:lnSpc>
              </a:pPr>
              <a:r>
                <a:rPr lang="en-US" sz="2200" dirty="0">
                  <a:solidFill>
                    <a:srgbClr val="272525"/>
                  </a:solidFill>
                  <a:latin typeface="Gelasio" pitchFamily="34" charset="0"/>
                  <a:ea typeface="Gelasio" pitchFamily="34" charset="-122"/>
                  <a:cs typeface="Gelasio" pitchFamily="34" charset="-120"/>
                </a:rPr>
                <a:t>Prime Products</a:t>
              </a:r>
              <a:endParaRPr lang="en-US" sz="2200" dirty="0"/>
            </a:p>
          </p:txBody>
        </p:sp>
        <p:sp>
          <p:nvSpPr>
            <p:cNvPr id="8" name="Text 3">
              <a:extLst>
                <a:ext uri="{FF2B5EF4-FFF2-40B4-BE49-F238E27FC236}">
                  <a16:creationId xmlns:a16="http://schemas.microsoft.com/office/drawing/2014/main" id="{AD4C2CF9-ED01-0B3C-292E-F39AFF64CC8E}"/>
                </a:ext>
              </a:extLst>
            </p:cNvPr>
            <p:cNvSpPr/>
            <p:nvPr/>
          </p:nvSpPr>
          <p:spPr>
            <a:xfrm>
              <a:off x="638116" y="4473209"/>
              <a:ext cx="3459242" cy="2433696"/>
            </a:xfrm>
            <a:prstGeom prst="rect">
              <a:avLst/>
            </a:prstGeom>
            <a:noFill/>
            <a:ln/>
          </p:spPr>
          <p:txBody>
            <a:bodyPr wrap="square" lIns="0" tIns="0" rIns="0" bIns="0" rtlCol="0" anchor="t"/>
            <a:lstStyle/>
            <a:p>
              <a:r>
                <a:rPr lang="en-US" dirty="0">
                  <a:solidFill>
                    <a:srgbClr val="272525"/>
                  </a:solidFill>
                  <a:ea typeface="Lato" pitchFamily="34" charset="-122"/>
                  <a:cs typeface="Lato" pitchFamily="34" charset="-120"/>
                </a:rPr>
                <a:t>228 products currently have Prime eligibility, representing the majority of high performers in terms of sales. Prime status significantly boosts product visibility and customer trust, encouraging faster purchase decisions</a:t>
              </a:r>
              <a:r>
                <a:rPr lang="en-US" sz="1750" dirty="0">
                  <a:solidFill>
                    <a:srgbClr val="272525"/>
                  </a:solidFill>
                  <a:ea typeface="Lato" pitchFamily="34" charset="-122"/>
                  <a:cs typeface="Lato" pitchFamily="34" charset="-120"/>
                </a:rPr>
                <a:t>.</a:t>
              </a:r>
              <a:endParaRPr lang="en-US" sz="1750" dirty="0"/>
            </a:p>
          </p:txBody>
        </p:sp>
      </p:grpSp>
      <p:grpSp>
        <p:nvGrpSpPr>
          <p:cNvPr id="16" name="Group 15">
            <a:extLst>
              <a:ext uri="{FF2B5EF4-FFF2-40B4-BE49-F238E27FC236}">
                <a16:creationId xmlns:a16="http://schemas.microsoft.com/office/drawing/2014/main" id="{57A380FD-42A8-9751-36BF-D83389F47002}"/>
              </a:ext>
            </a:extLst>
          </p:cNvPr>
          <p:cNvGrpSpPr/>
          <p:nvPr/>
        </p:nvGrpSpPr>
        <p:grpSpPr>
          <a:xfrm>
            <a:off x="4407713" y="3883617"/>
            <a:ext cx="4158386" cy="3364908"/>
            <a:chOff x="4479846" y="4093846"/>
            <a:chExt cx="4158386" cy="3364908"/>
          </a:xfrm>
        </p:grpSpPr>
        <p:sp>
          <p:nvSpPr>
            <p:cNvPr id="9" name="Shape 4">
              <a:extLst>
                <a:ext uri="{FF2B5EF4-FFF2-40B4-BE49-F238E27FC236}">
                  <a16:creationId xmlns:a16="http://schemas.microsoft.com/office/drawing/2014/main" id="{3CF6ABA7-C145-4AF9-6302-60C89E0E2C9E}"/>
                </a:ext>
              </a:extLst>
            </p:cNvPr>
            <p:cNvSpPr/>
            <p:nvPr/>
          </p:nvSpPr>
          <p:spPr>
            <a:xfrm>
              <a:off x="4479846" y="4093846"/>
              <a:ext cx="510302" cy="510302"/>
            </a:xfrm>
            <a:prstGeom prst="roundRect">
              <a:avLst>
                <a:gd name="adj" fmla="val 18669"/>
              </a:avLst>
            </a:prstGeom>
            <a:solidFill>
              <a:srgbClr val="E8E8E3"/>
            </a:solidFill>
            <a:ln w="7620">
              <a:solidFill>
                <a:srgbClr val="CECEC9"/>
              </a:solidFill>
              <a:prstDash val="solid"/>
            </a:ln>
          </p:spPr>
        </p:sp>
        <p:sp>
          <p:nvSpPr>
            <p:cNvPr id="10" name="Text 5">
              <a:extLst>
                <a:ext uri="{FF2B5EF4-FFF2-40B4-BE49-F238E27FC236}">
                  <a16:creationId xmlns:a16="http://schemas.microsoft.com/office/drawing/2014/main" id="{FCFEA8EC-7F84-E1C7-E951-C73C09A73444}"/>
                </a:ext>
              </a:extLst>
            </p:cNvPr>
            <p:cNvSpPr/>
            <p:nvPr/>
          </p:nvSpPr>
          <p:spPr>
            <a:xfrm>
              <a:off x="5216962" y="4093846"/>
              <a:ext cx="2835235" cy="354330"/>
            </a:xfrm>
            <a:prstGeom prst="rect">
              <a:avLst/>
            </a:prstGeom>
            <a:noFill/>
            <a:ln/>
          </p:spPr>
          <p:txBody>
            <a:bodyPr wrap="none" lIns="0" tIns="0" rIns="0" bIns="0" rtlCol="0" anchor="t"/>
            <a:lstStyle/>
            <a:p>
              <a:pPr>
                <a:lnSpc>
                  <a:spcPts val="2750"/>
                </a:lnSpc>
              </a:pPr>
              <a:r>
                <a:rPr lang="en-US" sz="2200" dirty="0">
                  <a:solidFill>
                    <a:srgbClr val="272525"/>
                  </a:solidFill>
                  <a:latin typeface="Gelasio" pitchFamily="34" charset="0"/>
                  <a:ea typeface="Gelasio" pitchFamily="34" charset="-122"/>
                  <a:cs typeface="Gelasio" pitchFamily="34" charset="-120"/>
                </a:rPr>
                <a:t>Free Delivery</a:t>
              </a:r>
              <a:endParaRPr lang="en-US" sz="2200" dirty="0"/>
            </a:p>
          </p:txBody>
        </p:sp>
        <p:sp>
          <p:nvSpPr>
            <p:cNvPr id="11" name="Text 6">
              <a:extLst>
                <a:ext uri="{FF2B5EF4-FFF2-40B4-BE49-F238E27FC236}">
                  <a16:creationId xmlns:a16="http://schemas.microsoft.com/office/drawing/2014/main" id="{CFDE7E22-868D-E419-D9D2-B364DEC83916}"/>
                </a:ext>
              </a:extLst>
            </p:cNvPr>
            <p:cNvSpPr/>
            <p:nvPr/>
          </p:nvSpPr>
          <p:spPr>
            <a:xfrm>
              <a:off x="5026140" y="4510670"/>
              <a:ext cx="3612092" cy="2948084"/>
            </a:xfrm>
            <a:prstGeom prst="rect">
              <a:avLst/>
            </a:prstGeom>
            <a:noFill/>
            <a:ln/>
          </p:spPr>
          <p:txBody>
            <a:bodyPr wrap="square" lIns="0" tIns="0" rIns="0" bIns="0" rtlCol="0" anchor="t"/>
            <a:lstStyle/>
            <a:p>
              <a:pPr>
                <a:spcBef>
                  <a:spcPts val="600"/>
                </a:spcBef>
                <a:buNone/>
              </a:pPr>
              <a:r>
                <a:rPr lang="en-US" dirty="0">
                  <a:solidFill>
                    <a:srgbClr val="272525"/>
                  </a:solidFill>
                  <a:ea typeface="Lato" pitchFamily="34" charset="-122"/>
                  <a:cs typeface="Lato" pitchFamily="34" charset="-120"/>
                </a:rPr>
                <a:t>An overwhelming 95.2% of total revenue is generated from items offering free delivery, underscoring the critical role that no-cost shipping plays in customer satisfaction and conversion rates.</a:t>
              </a:r>
            </a:p>
            <a:p>
              <a:pPr>
                <a:spcBef>
                  <a:spcPts val="600"/>
                </a:spcBef>
              </a:pPr>
              <a:r>
                <a:rPr lang="en-US" dirty="0">
                  <a:solidFill>
                    <a:srgbClr val="272525"/>
                  </a:solidFill>
                  <a:ea typeface="Lato" pitchFamily="34" charset="-122"/>
                  <a:cs typeface="Lato" pitchFamily="34" charset="-120"/>
                </a:rPr>
                <a:t>Customers are more likely to complete a purchase when shipping costs are not a concern, making this a key factor in sales strategy.</a:t>
              </a:r>
            </a:p>
          </p:txBody>
        </p:sp>
      </p:grpSp>
      <p:grpSp>
        <p:nvGrpSpPr>
          <p:cNvPr id="15" name="Group 14">
            <a:extLst>
              <a:ext uri="{FF2B5EF4-FFF2-40B4-BE49-F238E27FC236}">
                <a16:creationId xmlns:a16="http://schemas.microsoft.com/office/drawing/2014/main" id="{4C6B8F05-6DC4-489F-41FE-577C6FA4DF0D}"/>
              </a:ext>
            </a:extLst>
          </p:cNvPr>
          <p:cNvGrpSpPr/>
          <p:nvPr/>
        </p:nvGrpSpPr>
        <p:grpSpPr>
          <a:xfrm>
            <a:off x="8297316" y="3871509"/>
            <a:ext cx="4196358" cy="3077572"/>
            <a:chOff x="8903017" y="4093846"/>
            <a:chExt cx="4196358" cy="3496672"/>
          </a:xfrm>
        </p:grpSpPr>
        <p:sp>
          <p:nvSpPr>
            <p:cNvPr id="12" name="Shape 7">
              <a:extLst>
                <a:ext uri="{FF2B5EF4-FFF2-40B4-BE49-F238E27FC236}">
                  <a16:creationId xmlns:a16="http://schemas.microsoft.com/office/drawing/2014/main" id="{A5C6BEC7-05BC-1F17-A358-EBCC3FE14516}"/>
                </a:ext>
              </a:extLst>
            </p:cNvPr>
            <p:cNvSpPr/>
            <p:nvPr/>
          </p:nvSpPr>
          <p:spPr>
            <a:xfrm>
              <a:off x="8903017" y="4093846"/>
              <a:ext cx="510302" cy="510302"/>
            </a:xfrm>
            <a:prstGeom prst="roundRect">
              <a:avLst>
                <a:gd name="adj" fmla="val 18669"/>
              </a:avLst>
            </a:prstGeom>
            <a:solidFill>
              <a:srgbClr val="E8E8E3"/>
            </a:solidFill>
            <a:ln w="7620">
              <a:solidFill>
                <a:srgbClr val="CECEC9"/>
              </a:solidFill>
              <a:prstDash val="solid"/>
            </a:ln>
          </p:spPr>
        </p:sp>
        <p:sp>
          <p:nvSpPr>
            <p:cNvPr id="13" name="Text 8">
              <a:extLst>
                <a:ext uri="{FF2B5EF4-FFF2-40B4-BE49-F238E27FC236}">
                  <a16:creationId xmlns:a16="http://schemas.microsoft.com/office/drawing/2014/main" id="{48866E47-8669-07FD-D618-0E72B385D9D7}"/>
                </a:ext>
              </a:extLst>
            </p:cNvPr>
            <p:cNvSpPr/>
            <p:nvPr/>
          </p:nvSpPr>
          <p:spPr>
            <a:xfrm>
              <a:off x="9640133" y="4093846"/>
              <a:ext cx="2835235" cy="354330"/>
            </a:xfrm>
            <a:prstGeom prst="rect">
              <a:avLst/>
            </a:prstGeom>
            <a:noFill/>
            <a:ln/>
          </p:spPr>
          <p:txBody>
            <a:bodyPr wrap="none" lIns="0" tIns="0" rIns="0" bIns="0" rtlCol="0" anchor="t"/>
            <a:lstStyle/>
            <a:p>
              <a:pPr>
                <a:lnSpc>
                  <a:spcPts val="2750"/>
                </a:lnSpc>
              </a:pPr>
              <a:r>
                <a:rPr lang="en-US" sz="2200" dirty="0">
                  <a:solidFill>
                    <a:srgbClr val="272525"/>
                  </a:solidFill>
                  <a:latin typeface="Gelasio" pitchFamily="34" charset="0"/>
                  <a:ea typeface="Gelasio" pitchFamily="34" charset="-122"/>
                  <a:cs typeface="Gelasio" pitchFamily="34" charset="-120"/>
                </a:rPr>
                <a:t>Action</a:t>
              </a:r>
              <a:endParaRPr lang="en-US" sz="2200" dirty="0"/>
            </a:p>
          </p:txBody>
        </p:sp>
        <p:sp>
          <p:nvSpPr>
            <p:cNvPr id="14" name="Text 9">
              <a:extLst>
                <a:ext uri="{FF2B5EF4-FFF2-40B4-BE49-F238E27FC236}">
                  <a16:creationId xmlns:a16="http://schemas.microsoft.com/office/drawing/2014/main" id="{D5B949F6-BE8B-5AC0-92BB-4AFE3227898A}"/>
                </a:ext>
              </a:extLst>
            </p:cNvPr>
            <p:cNvSpPr/>
            <p:nvPr/>
          </p:nvSpPr>
          <p:spPr>
            <a:xfrm>
              <a:off x="9640133" y="4584265"/>
              <a:ext cx="3459242" cy="3006253"/>
            </a:xfrm>
            <a:prstGeom prst="rect">
              <a:avLst/>
            </a:prstGeom>
            <a:noFill/>
            <a:ln/>
          </p:spPr>
          <p:txBody>
            <a:bodyPr wrap="square" lIns="0" tIns="0" rIns="0" bIns="0" rtlCol="0" anchor="t"/>
            <a:lstStyle/>
            <a:p>
              <a:r>
                <a:rPr lang="en-US" dirty="0">
                  <a:solidFill>
                    <a:srgbClr val="272525"/>
                  </a:solidFill>
                  <a:ea typeface="Lato" pitchFamily="34" charset="-122"/>
                  <a:cs typeface="Lato" pitchFamily="34" charset="-120"/>
                </a:rPr>
                <a:t>To leverage these advantages, it is essential to optimize product listings to qualify for Amazon Prime and emphasize free shipping options. Enhancing logistics partnerships and streamlining supply chains can help maintain these benefits and improve overall performance..</a:t>
              </a:r>
            </a:p>
          </p:txBody>
        </p:sp>
      </p:grpSp>
    </p:spTree>
    <p:extLst>
      <p:ext uri="{BB962C8B-B14F-4D97-AF65-F5344CB8AC3E}">
        <p14:creationId xmlns:p14="http://schemas.microsoft.com/office/powerpoint/2010/main" val="214585184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A66DF835-9818-6873-5CCF-B4D0D8DBB3E1}"/>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3F797A9-31E0-221C-0BA8-E521876674F9}"/>
              </a:ext>
            </a:extLst>
          </p:cNvPr>
          <p:cNvSpPr txBox="1"/>
          <p:nvPr/>
        </p:nvSpPr>
        <p:spPr>
          <a:xfrm>
            <a:off x="765253" y="572711"/>
            <a:ext cx="7542134" cy="646331"/>
          </a:xfrm>
          <a:prstGeom prst="rect">
            <a:avLst/>
          </a:prstGeom>
          <a:noFill/>
        </p:spPr>
        <p:txBody>
          <a:bodyPr wrap="square">
            <a:spAutoFit/>
          </a:bodyPr>
          <a:lstStyle/>
          <a:p>
            <a:r>
              <a:rPr lang="en-US" sz="3600" dirty="0">
                <a:latin typeface="Book Antiqua" panose="02040602050305030304" pitchFamily="18" charset="0"/>
              </a:rPr>
              <a:t>Customer Perception and Ratings</a:t>
            </a:r>
          </a:p>
        </p:txBody>
      </p:sp>
      <p:pic>
        <p:nvPicPr>
          <p:cNvPr id="17" name="Picture 16">
            <a:extLst>
              <a:ext uri="{FF2B5EF4-FFF2-40B4-BE49-F238E27FC236}">
                <a16:creationId xmlns:a16="http://schemas.microsoft.com/office/drawing/2014/main" id="{89211FAF-0A4C-C787-BD21-7BC69F2E1F7A}"/>
              </a:ext>
            </a:extLst>
          </p:cNvPr>
          <p:cNvPicPr>
            <a:picLocks noChangeAspect="1"/>
          </p:cNvPicPr>
          <p:nvPr/>
        </p:nvPicPr>
        <p:blipFill>
          <a:blip r:embed="rId2"/>
          <a:stretch>
            <a:fillRect/>
          </a:stretch>
        </p:blipFill>
        <p:spPr>
          <a:xfrm>
            <a:off x="8473833" y="761842"/>
            <a:ext cx="3691180" cy="3134975"/>
          </a:xfrm>
          <a:prstGeom prst="rect">
            <a:avLst/>
          </a:prstGeom>
        </p:spPr>
      </p:pic>
      <p:sp>
        <p:nvSpPr>
          <p:cNvPr id="21" name="Rectangle 1">
            <a:extLst>
              <a:ext uri="{FF2B5EF4-FFF2-40B4-BE49-F238E27FC236}">
                <a16:creationId xmlns:a16="http://schemas.microsoft.com/office/drawing/2014/main" id="{1313ACAF-CF59-0EBA-0200-24958745B694}"/>
              </a:ext>
            </a:extLst>
          </p:cNvPr>
          <p:cNvSpPr>
            <a:spLocks noChangeArrowheads="1"/>
          </p:cNvSpPr>
          <p:nvPr/>
        </p:nvSpPr>
        <p:spPr bwMode="auto">
          <a:xfrm rot="10800000" flipV="1">
            <a:off x="544512" y="1854419"/>
            <a:ext cx="63246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lang="en-US" altLang="en-US" b="1" dirty="0">
                <a:latin typeface="Arial" panose="020B0604020202020204" pitchFamily="34" charset="0"/>
              </a:rPr>
              <a:t>Trend Detected:</a:t>
            </a:r>
            <a:r>
              <a:rPr lang="en-US" altLang="en-US" dirty="0">
                <a:latin typeface="Arial" panose="020B0604020202020204" pitchFamily="34" charset="0"/>
              </a:rPr>
              <a:t> While many products showcase perfect 5-star ratings, they often lack a substantial number of reviews—raising concerns about authenticity and buyer confidence.</a:t>
            </a:r>
          </a:p>
          <a:p>
            <a:pPr defTabSz="914400" eaLnBrk="0" fontAlgn="base" hangingPunct="0">
              <a:spcBef>
                <a:spcPct val="0"/>
              </a:spcBef>
              <a:spcAft>
                <a:spcPct val="0"/>
              </a:spcAft>
              <a:buFontTx/>
              <a:buChar char="•"/>
            </a:pPr>
            <a:endParaRPr lang="en-US" altLang="en-US" dirty="0">
              <a:latin typeface="Arial" panose="020B0604020202020204" pitchFamily="34" charset="0"/>
            </a:endParaRPr>
          </a:p>
          <a:p>
            <a:pPr defTabSz="914400" eaLnBrk="0" fontAlgn="base" hangingPunct="0">
              <a:spcBef>
                <a:spcPct val="0"/>
              </a:spcBef>
              <a:spcAft>
                <a:spcPct val="0"/>
              </a:spcAft>
              <a:buFontTx/>
              <a:buChar char="•"/>
            </a:pPr>
            <a:r>
              <a:rPr lang="en-US" altLang="en-US" b="1" dirty="0">
                <a:latin typeface="Arial" panose="020B0604020202020204" pitchFamily="34" charset="0"/>
              </a:rPr>
              <a:t>Reliable Trust Indicator:</a:t>
            </a:r>
            <a:r>
              <a:rPr lang="en-US" altLang="en-US" dirty="0">
                <a:latin typeface="Arial" panose="020B0604020202020204" pitchFamily="34" charset="0"/>
              </a:rPr>
              <a:t> Products with ratings in the 4.2–4.5 range paired with a </a:t>
            </a:r>
            <a:r>
              <a:rPr lang="en-US" altLang="en-US" b="1" dirty="0">
                <a:latin typeface="Arial" panose="020B0604020202020204" pitchFamily="34" charset="0"/>
              </a:rPr>
              <a:t>high volume of reviews</a:t>
            </a:r>
            <a:r>
              <a:rPr lang="en-US" altLang="en-US" dirty="0">
                <a:latin typeface="Arial" panose="020B0604020202020204" pitchFamily="34" charset="0"/>
              </a:rPr>
              <a:t> are more dependable indicators of customer satisfaction and are more likely to influence purchasing decisions.</a:t>
            </a:r>
          </a:p>
        </p:txBody>
      </p:sp>
      <p:pic>
        <p:nvPicPr>
          <p:cNvPr id="23" name="Picture 22">
            <a:extLst>
              <a:ext uri="{FF2B5EF4-FFF2-40B4-BE49-F238E27FC236}">
                <a16:creationId xmlns:a16="http://schemas.microsoft.com/office/drawing/2014/main" id="{302AB0ED-C837-9992-B3FD-6DAA1E25391D}"/>
              </a:ext>
            </a:extLst>
          </p:cNvPr>
          <p:cNvPicPr>
            <a:picLocks noChangeAspect="1"/>
          </p:cNvPicPr>
          <p:nvPr/>
        </p:nvPicPr>
        <p:blipFill>
          <a:blip r:embed="rId3"/>
          <a:stretch>
            <a:fillRect/>
          </a:stretch>
        </p:blipFill>
        <p:spPr>
          <a:xfrm>
            <a:off x="7173589" y="4060623"/>
            <a:ext cx="4648849" cy="2886478"/>
          </a:xfrm>
          <a:prstGeom prst="rect">
            <a:avLst/>
          </a:prstGeom>
        </p:spPr>
      </p:pic>
    </p:spTree>
    <p:extLst>
      <p:ext uri="{BB962C8B-B14F-4D97-AF65-F5344CB8AC3E}">
        <p14:creationId xmlns:p14="http://schemas.microsoft.com/office/powerpoint/2010/main" val="359324963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00C8C1CA-A1E8-5CD9-35FB-F2213F5FF41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DD8D78EF-6155-4E82-39BC-D6B81C5E50E3}"/>
              </a:ext>
            </a:extLst>
          </p:cNvPr>
          <p:cNvSpPr txBox="1"/>
          <p:nvPr/>
        </p:nvSpPr>
        <p:spPr>
          <a:xfrm>
            <a:off x="765253" y="572711"/>
            <a:ext cx="7542134" cy="646331"/>
          </a:xfrm>
          <a:prstGeom prst="rect">
            <a:avLst/>
          </a:prstGeom>
          <a:noFill/>
        </p:spPr>
        <p:txBody>
          <a:bodyPr wrap="square">
            <a:spAutoFit/>
          </a:bodyPr>
          <a:lstStyle/>
          <a:p>
            <a:r>
              <a:rPr lang="en-US" sz="3600" dirty="0">
                <a:latin typeface="Book Antiqua" panose="02040602050305030304" pitchFamily="18" charset="0"/>
              </a:rPr>
              <a:t>Customer Perception and Ratings</a:t>
            </a:r>
          </a:p>
        </p:txBody>
      </p:sp>
      <p:sp>
        <p:nvSpPr>
          <p:cNvPr id="21" name="Rectangle 1">
            <a:extLst>
              <a:ext uri="{FF2B5EF4-FFF2-40B4-BE49-F238E27FC236}">
                <a16:creationId xmlns:a16="http://schemas.microsoft.com/office/drawing/2014/main" id="{E03269F2-139E-D628-372F-E8F26368E467}"/>
              </a:ext>
            </a:extLst>
          </p:cNvPr>
          <p:cNvSpPr>
            <a:spLocks noChangeArrowheads="1"/>
          </p:cNvSpPr>
          <p:nvPr/>
        </p:nvSpPr>
        <p:spPr bwMode="auto">
          <a:xfrm rot="10800000" flipV="1">
            <a:off x="30162" y="1679115"/>
            <a:ext cx="6324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defTabSz="914400" eaLnBrk="0" fontAlgn="base" hangingPunct="0">
              <a:spcBef>
                <a:spcPct val="0"/>
              </a:spcBef>
              <a:spcAft>
                <a:spcPct val="0"/>
              </a:spcAft>
              <a:buFontTx/>
              <a:buChar char="•"/>
            </a:pPr>
            <a:r>
              <a:rPr lang="en-US" altLang="en-US" sz="2000" b="1" dirty="0"/>
              <a:t>Higher number of offers </a:t>
            </a:r>
            <a:r>
              <a:rPr lang="en-US" sz="2000" b="1" dirty="0"/>
              <a:t>≠ Higher sales: </a:t>
            </a:r>
            <a:r>
              <a:rPr lang="en-US" sz="2000" dirty="0"/>
              <a:t>while many products showcase a good total of sales, it does not have a strong, visible correlation with the number of offers.</a:t>
            </a:r>
          </a:p>
          <a:p>
            <a:pPr lvl="1" defTabSz="914400" eaLnBrk="0" fontAlgn="base" hangingPunct="0">
              <a:spcBef>
                <a:spcPct val="0"/>
              </a:spcBef>
              <a:spcAft>
                <a:spcPct val="0"/>
              </a:spcAft>
              <a:buFontTx/>
              <a:buChar char="•"/>
            </a:pPr>
            <a:r>
              <a:rPr lang="en-US" sz="2000" dirty="0"/>
              <a:t> With a higher number of offers, the sales don’t get significantly affected with a positive change.  </a:t>
            </a:r>
            <a:endParaRPr lang="en-US" sz="2000" b="1" dirty="0"/>
          </a:p>
          <a:p>
            <a:pPr lvl="1" defTabSz="914400" eaLnBrk="0" fontAlgn="base" hangingPunct="0">
              <a:spcBef>
                <a:spcPct val="0"/>
              </a:spcBef>
              <a:spcAft>
                <a:spcPct val="0"/>
              </a:spcAft>
              <a:buFontTx/>
              <a:buChar char="•"/>
            </a:pPr>
            <a:endParaRPr lang="en-US" altLang="en-US" sz="2000" dirty="0">
              <a:latin typeface="Arial" panose="020B0604020202020204" pitchFamily="34" charset="0"/>
            </a:endParaRPr>
          </a:p>
        </p:txBody>
      </p:sp>
      <p:pic>
        <p:nvPicPr>
          <p:cNvPr id="25" name="Picture 24">
            <a:extLst>
              <a:ext uri="{FF2B5EF4-FFF2-40B4-BE49-F238E27FC236}">
                <a16:creationId xmlns:a16="http://schemas.microsoft.com/office/drawing/2014/main" id="{737676D6-3EE7-8E30-01A2-09D81647F364}"/>
              </a:ext>
            </a:extLst>
          </p:cNvPr>
          <p:cNvPicPr>
            <a:picLocks noChangeAspect="1"/>
          </p:cNvPicPr>
          <p:nvPr/>
        </p:nvPicPr>
        <p:blipFill>
          <a:blip r:embed="rId2"/>
          <a:stretch>
            <a:fillRect/>
          </a:stretch>
        </p:blipFill>
        <p:spPr>
          <a:xfrm>
            <a:off x="6925544" y="2802497"/>
            <a:ext cx="5153744" cy="2724530"/>
          </a:xfrm>
          <a:prstGeom prst="rect">
            <a:avLst/>
          </a:prstGeom>
        </p:spPr>
      </p:pic>
    </p:spTree>
    <p:extLst>
      <p:ext uri="{BB962C8B-B14F-4D97-AF65-F5344CB8AC3E}">
        <p14:creationId xmlns:p14="http://schemas.microsoft.com/office/powerpoint/2010/main" val="25242696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A10570A4-32D4-F06B-17EE-82520CCDCCF4}"/>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FF1CBC7D-B01A-289F-3DAE-18B22490A436}"/>
              </a:ext>
            </a:extLst>
          </p:cNvPr>
          <p:cNvGrpSpPr/>
          <p:nvPr/>
        </p:nvGrpSpPr>
        <p:grpSpPr>
          <a:xfrm>
            <a:off x="2451659" y="3269430"/>
            <a:ext cx="7839790" cy="7629466"/>
            <a:chOff x="1877615" y="2098119"/>
            <a:chExt cx="8131195" cy="7892236"/>
          </a:xfrm>
        </p:grpSpPr>
        <p:pic>
          <p:nvPicPr>
            <p:cNvPr id="3" name="Image 1" descr="preencoded.png">
              <a:extLst>
                <a:ext uri="{FF2B5EF4-FFF2-40B4-BE49-F238E27FC236}">
                  <a16:creationId xmlns:a16="http://schemas.microsoft.com/office/drawing/2014/main" id="{19FBFD0E-6EC8-B019-3FCC-5C8D88213B2F}"/>
                </a:ext>
              </a:extLst>
            </p:cNvPr>
            <p:cNvPicPr>
              <a:picLocks noChangeAspect="1"/>
            </p:cNvPicPr>
            <p:nvPr/>
          </p:nvPicPr>
          <p:blipFill>
            <a:blip r:embed="rId2"/>
            <a:stretch>
              <a:fillRect/>
            </a:stretch>
          </p:blipFill>
          <p:spPr>
            <a:xfrm>
              <a:off x="1991915" y="2098119"/>
              <a:ext cx="7825621" cy="7825621"/>
            </a:xfrm>
            <a:prstGeom prst="rect">
              <a:avLst/>
            </a:prstGeom>
          </p:spPr>
        </p:pic>
        <p:grpSp>
          <p:nvGrpSpPr>
            <p:cNvPr id="14" name="Group 13">
              <a:extLst>
                <a:ext uri="{FF2B5EF4-FFF2-40B4-BE49-F238E27FC236}">
                  <a16:creationId xmlns:a16="http://schemas.microsoft.com/office/drawing/2014/main" id="{5DFBC9AB-1119-9F66-80E0-AFA727C80858}"/>
                </a:ext>
              </a:extLst>
            </p:cNvPr>
            <p:cNvGrpSpPr/>
            <p:nvPr/>
          </p:nvGrpSpPr>
          <p:grpSpPr>
            <a:xfrm>
              <a:off x="1877615" y="2164733"/>
              <a:ext cx="8131195" cy="7825622"/>
              <a:chOff x="1877615" y="2231349"/>
              <a:chExt cx="8131195" cy="7825622"/>
            </a:xfrm>
          </p:grpSpPr>
          <p:grpSp>
            <p:nvGrpSpPr>
              <p:cNvPr id="13" name="Group 12">
                <a:extLst>
                  <a:ext uri="{FF2B5EF4-FFF2-40B4-BE49-F238E27FC236}">
                    <a16:creationId xmlns:a16="http://schemas.microsoft.com/office/drawing/2014/main" id="{AEBA9F62-BC64-819C-0DE8-778B2CB12228}"/>
                  </a:ext>
                </a:extLst>
              </p:cNvPr>
              <p:cNvGrpSpPr/>
              <p:nvPr/>
            </p:nvGrpSpPr>
            <p:grpSpPr>
              <a:xfrm>
                <a:off x="1877615" y="2231349"/>
                <a:ext cx="8131195" cy="7825622"/>
                <a:chOff x="1877615" y="2231349"/>
                <a:chExt cx="8131195" cy="7825622"/>
              </a:xfrm>
            </p:grpSpPr>
            <p:pic>
              <p:nvPicPr>
                <p:cNvPr id="4" name="Image 2" descr="preencoded.png">
                  <a:extLst>
                    <a:ext uri="{FF2B5EF4-FFF2-40B4-BE49-F238E27FC236}">
                      <a16:creationId xmlns:a16="http://schemas.microsoft.com/office/drawing/2014/main" id="{143AD8AC-398F-A400-4CCC-7E0A16BC2FC9}"/>
                    </a:ext>
                  </a:extLst>
                </p:cNvPr>
                <p:cNvPicPr>
                  <a:picLocks noChangeAspect="1"/>
                </p:cNvPicPr>
                <p:nvPr/>
              </p:nvPicPr>
              <p:blipFill>
                <a:blip r:embed="rId3"/>
                <a:stretch>
                  <a:fillRect/>
                </a:stretch>
              </p:blipFill>
              <p:spPr>
                <a:xfrm>
                  <a:off x="2183189" y="2231350"/>
                  <a:ext cx="7825621" cy="7825621"/>
                </a:xfrm>
                <a:prstGeom prst="rect">
                  <a:avLst/>
                </a:prstGeom>
              </p:spPr>
            </p:pic>
            <p:pic>
              <p:nvPicPr>
                <p:cNvPr id="6" name="Image 0" descr="preencoded.png">
                  <a:extLst>
                    <a:ext uri="{FF2B5EF4-FFF2-40B4-BE49-F238E27FC236}">
                      <a16:creationId xmlns:a16="http://schemas.microsoft.com/office/drawing/2014/main" id="{B0345D87-5E20-5BFC-ACA8-F27DA0A0B323}"/>
                    </a:ext>
                  </a:extLst>
                </p:cNvPr>
                <p:cNvPicPr>
                  <a:picLocks noChangeAspect="1"/>
                </p:cNvPicPr>
                <p:nvPr/>
              </p:nvPicPr>
              <p:blipFill>
                <a:blip r:embed="rId4"/>
                <a:stretch>
                  <a:fillRect/>
                </a:stretch>
              </p:blipFill>
              <p:spPr>
                <a:xfrm>
                  <a:off x="1877615" y="2231349"/>
                  <a:ext cx="7825621" cy="7825621"/>
                </a:xfrm>
                <a:prstGeom prst="rect">
                  <a:avLst/>
                </a:prstGeom>
              </p:spPr>
            </p:pic>
            <p:sp>
              <p:nvSpPr>
                <p:cNvPr id="7" name="Text 1">
                  <a:extLst>
                    <a:ext uri="{FF2B5EF4-FFF2-40B4-BE49-F238E27FC236}">
                      <a16:creationId xmlns:a16="http://schemas.microsoft.com/office/drawing/2014/main" id="{B7E8050E-3A67-FA30-4966-16C1A753501D}"/>
                    </a:ext>
                  </a:extLst>
                </p:cNvPr>
                <p:cNvSpPr/>
                <p:nvPr/>
              </p:nvSpPr>
              <p:spPr>
                <a:xfrm>
                  <a:off x="3171824" y="4304348"/>
                  <a:ext cx="382667" cy="478393"/>
                </a:xfrm>
                <a:prstGeom prst="rect">
                  <a:avLst/>
                </a:prstGeom>
                <a:noFill/>
                <a:ln/>
              </p:spPr>
              <p:txBody>
                <a:bodyPr wrap="none" lIns="0" tIns="0" rIns="0" bIns="0" rtlCol="0" anchor="t"/>
                <a:lstStyle/>
                <a:p>
                  <a:pPr>
                    <a:lnSpc>
                      <a:spcPts val="4800"/>
                    </a:lnSpc>
                  </a:pPr>
                  <a:r>
                    <a:rPr lang="en-US" sz="3000" dirty="0">
                      <a:solidFill>
                        <a:srgbClr val="272525"/>
                      </a:solidFill>
                      <a:latin typeface="Gelasio" pitchFamily="34" charset="0"/>
                      <a:ea typeface="Gelasio" pitchFamily="34" charset="-122"/>
                      <a:cs typeface="Gelasio" pitchFamily="34" charset="-120"/>
                    </a:rPr>
                    <a:t>1</a:t>
                  </a:r>
                  <a:endParaRPr lang="en-US" sz="3000" dirty="0"/>
                </a:p>
              </p:txBody>
            </p:sp>
            <p:sp>
              <p:nvSpPr>
                <p:cNvPr id="8" name="Text 2">
                  <a:extLst>
                    <a:ext uri="{FF2B5EF4-FFF2-40B4-BE49-F238E27FC236}">
                      <a16:creationId xmlns:a16="http://schemas.microsoft.com/office/drawing/2014/main" id="{13C8A81B-B8C9-39BC-EC5B-5308D4B92076}"/>
                    </a:ext>
                  </a:extLst>
                </p:cNvPr>
                <p:cNvSpPr/>
                <p:nvPr/>
              </p:nvSpPr>
              <p:spPr>
                <a:xfrm>
                  <a:off x="5713333" y="2837021"/>
                  <a:ext cx="382667" cy="478393"/>
                </a:xfrm>
                <a:prstGeom prst="rect">
                  <a:avLst/>
                </a:prstGeom>
                <a:noFill/>
                <a:ln/>
              </p:spPr>
              <p:txBody>
                <a:bodyPr wrap="none" lIns="0" tIns="0" rIns="0" bIns="0" rtlCol="0" anchor="t"/>
                <a:lstStyle/>
                <a:p>
                  <a:pPr>
                    <a:lnSpc>
                      <a:spcPts val="4800"/>
                    </a:lnSpc>
                  </a:pPr>
                  <a:r>
                    <a:rPr lang="en-US" sz="3000" dirty="0">
                      <a:solidFill>
                        <a:srgbClr val="272525"/>
                      </a:solidFill>
                      <a:latin typeface="Gelasio" pitchFamily="34" charset="0"/>
                      <a:ea typeface="Gelasio" pitchFamily="34" charset="-122"/>
                      <a:cs typeface="Gelasio" pitchFamily="34" charset="-120"/>
                    </a:rPr>
                    <a:t>2</a:t>
                  </a:r>
                  <a:endParaRPr lang="en-US" sz="3000" dirty="0"/>
                </a:p>
              </p:txBody>
            </p:sp>
          </p:grpSp>
          <p:sp>
            <p:nvSpPr>
              <p:cNvPr id="5" name="Text 3">
                <a:extLst>
                  <a:ext uri="{FF2B5EF4-FFF2-40B4-BE49-F238E27FC236}">
                    <a16:creationId xmlns:a16="http://schemas.microsoft.com/office/drawing/2014/main" id="{0516A185-517E-2DD9-8924-C25DC991D809}"/>
                  </a:ext>
                </a:extLst>
              </p:cNvPr>
              <p:cNvSpPr/>
              <p:nvPr/>
            </p:nvSpPr>
            <p:spPr>
              <a:xfrm>
                <a:off x="8254722" y="4304348"/>
                <a:ext cx="382667" cy="478393"/>
              </a:xfrm>
              <a:prstGeom prst="rect">
                <a:avLst/>
              </a:prstGeom>
              <a:noFill/>
              <a:ln/>
            </p:spPr>
            <p:txBody>
              <a:bodyPr wrap="none" lIns="0" tIns="0" rIns="0" bIns="0" rtlCol="0" anchor="t"/>
              <a:lstStyle/>
              <a:p>
                <a:pPr>
                  <a:lnSpc>
                    <a:spcPts val="4800"/>
                  </a:lnSpc>
                </a:pPr>
                <a:r>
                  <a:rPr lang="en-US" sz="3000" dirty="0">
                    <a:solidFill>
                      <a:srgbClr val="272525"/>
                    </a:solidFill>
                    <a:latin typeface="Gelasio" pitchFamily="34" charset="0"/>
                    <a:ea typeface="Gelasio" pitchFamily="34" charset="-122"/>
                    <a:cs typeface="Gelasio" pitchFamily="34" charset="-120"/>
                  </a:rPr>
                  <a:t>3</a:t>
                </a:r>
                <a:endParaRPr lang="en-US" sz="3000" dirty="0"/>
              </a:p>
            </p:txBody>
          </p:sp>
        </p:grpSp>
      </p:grpSp>
      <p:sp>
        <p:nvSpPr>
          <p:cNvPr id="10" name="TextBox 9">
            <a:extLst>
              <a:ext uri="{FF2B5EF4-FFF2-40B4-BE49-F238E27FC236}">
                <a16:creationId xmlns:a16="http://schemas.microsoft.com/office/drawing/2014/main" id="{BC8E49DA-9A0E-1D42-64EA-DE3A28AED7D1}"/>
              </a:ext>
            </a:extLst>
          </p:cNvPr>
          <p:cNvSpPr txBox="1"/>
          <p:nvPr/>
        </p:nvSpPr>
        <p:spPr>
          <a:xfrm>
            <a:off x="765253" y="572711"/>
            <a:ext cx="7542134" cy="646331"/>
          </a:xfrm>
          <a:prstGeom prst="rect">
            <a:avLst/>
          </a:prstGeom>
          <a:noFill/>
        </p:spPr>
        <p:txBody>
          <a:bodyPr wrap="square">
            <a:spAutoFit/>
          </a:bodyPr>
          <a:lstStyle/>
          <a:p>
            <a:r>
              <a:rPr lang="en-US" sz="3600" dirty="0">
                <a:latin typeface="Book Antiqua" panose="02040602050305030304" pitchFamily="18" charset="0"/>
              </a:rPr>
              <a:t>Customer Perception and Ratings</a:t>
            </a:r>
          </a:p>
        </p:txBody>
      </p:sp>
      <p:sp>
        <p:nvSpPr>
          <p:cNvPr id="18" name="Text 4">
            <a:extLst>
              <a:ext uri="{FF2B5EF4-FFF2-40B4-BE49-F238E27FC236}">
                <a16:creationId xmlns:a16="http://schemas.microsoft.com/office/drawing/2014/main" id="{7D8ABBCC-2DAD-BACA-DE7F-86973866C6CE}"/>
              </a:ext>
            </a:extLst>
          </p:cNvPr>
          <p:cNvSpPr/>
          <p:nvPr/>
        </p:nvSpPr>
        <p:spPr>
          <a:xfrm>
            <a:off x="765255" y="3687919"/>
            <a:ext cx="2221177" cy="866412"/>
          </a:xfrm>
          <a:prstGeom prst="rect">
            <a:avLst/>
          </a:prstGeom>
          <a:noFill/>
          <a:ln/>
        </p:spPr>
        <p:txBody>
          <a:bodyPr wrap="none" lIns="0" tIns="0" rIns="0" bIns="0" rtlCol="0" anchor="t"/>
          <a:lstStyle/>
          <a:p>
            <a:pPr algn="ctr">
              <a:lnSpc>
                <a:spcPts val="2750"/>
              </a:lnSpc>
            </a:pPr>
            <a:r>
              <a:rPr lang="en-US" sz="2200" dirty="0">
                <a:solidFill>
                  <a:srgbClr val="312F2B"/>
                </a:solidFill>
                <a:latin typeface="Gelasio" pitchFamily="34" charset="0"/>
                <a:ea typeface="Gelasio" pitchFamily="34" charset="-122"/>
                <a:cs typeface="Gelasio" pitchFamily="34" charset="-120"/>
              </a:rPr>
              <a:t>High Ratings</a:t>
            </a:r>
            <a:endParaRPr lang="en-US" sz="2200" dirty="0"/>
          </a:p>
        </p:txBody>
      </p:sp>
      <p:sp>
        <p:nvSpPr>
          <p:cNvPr id="19" name="Text 5">
            <a:extLst>
              <a:ext uri="{FF2B5EF4-FFF2-40B4-BE49-F238E27FC236}">
                <a16:creationId xmlns:a16="http://schemas.microsoft.com/office/drawing/2014/main" id="{D815A349-958D-B94A-EE9D-2E7D1E5A9CF9}"/>
              </a:ext>
            </a:extLst>
          </p:cNvPr>
          <p:cNvSpPr/>
          <p:nvPr/>
        </p:nvSpPr>
        <p:spPr>
          <a:xfrm>
            <a:off x="634994" y="4178338"/>
            <a:ext cx="2512851" cy="887374"/>
          </a:xfrm>
          <a:prstGeom prst="rect">
            <a:avLst/>
          </a:prstGeom>
          <a:noFill/>
          <a:ln/>
        </p:spPr>
        <p:txBody>
          <a:bodyPr wrap="none" lIns="0" tIns="0" rIns="0" bIns="0" rtlCol="0" anchor="t"/>
          <a:lstStyle/>
          <a:p>
            <a:pPr algn="ctr">
              <a:lnSpc>
                <a:spcPts val="2850"/>
              </a:lnSpc>
            </a:pPr>
            <a:r>
              <a:rPr lang="en-US" sz="1750" dirty="0">
                <a:solidFill>
                  <a:srgbClr val="272525"/>
                </a:solidFill>
                <a:latin typeface="Lato" pitchFamily="34" charset="0"/>
                <a:ea typeface="Lato" pitchFamily="34" charset="-122"/>
                <a:cs typeface="Lato" pitchFamily="34" charset="-120"/>
              </a:rPr>
              <a:t>5.0 stars often have few reviews.</a:t>
            </a:r>
            <a:endParaRPr lang="en-US" sz="1750" dirty="0"/>
          </a:p>
        </p:txBody>
      </p:sp>
      <p:sp>
        <p:nvSpPr>
          <p:cNvPr id="20" name="Text 6">
            <a:extLst>
              <a:ext uri="{FF2B5EF4-FFF2-40B4-BE49-F238E27FC236}">
                <a16:creationId xmlns:a16="http://schemas.microsoft.com/office/drawing/2014/main" id="{051CCE2A-EB49-85E0-A51D-A7F86D58C3C6}"/>
              </a:ext>
            </a:extLst>
          </p:cNvPr>
          <p:cNvSpPr/>
          <p:nvPr/>
        </p:nvSpPr>
        <p:spPr>
          <a:xfrm>
            <a:off x="5123241" y="1960799"/>
            <a:ext cx="2496631" cy="580088"/>
          </a:xfrm>
          <a:prstGeom prst="rect">
            <a:avLst/>
          </a:prstGeom>
          <a:noFill/>
          <a:ln/>
        </p:spPr>
        <p:txBody>
          <a:bodyPr wrap="none" lIns="0" tIns="0" rIns="0" bIns="0" rtlCol="0" anchor="t"/>
          <a:lstStyle/>
          <a:p>
            <a:pPr algn="ctr">
              <a:lnSpc>
                <a:spcPts val="2750"/>
              </a:lnSpc>
            </a:pPr>
            <a:r>
              <a:rPr lang="en-US" sz="2200" dirty="0">
                <a:solidFill>
                  <a:srgbClr val="312F2B"/>
                </a:solidFill>
                <a:latin typeface="Gelasio" pitchFamily="34" charset="0"/>
                <a:ea typeface="Gelasio" pitchFamily="34" charset="-122"/>
                <a:cs typeface="Gelasio" pitchFamily="34" charset="-120"/>
              </a:rPr>
              <a:t>Trust Range</a:t>
            </a:r>
            <a:endParaRPr lang="en-US" sz="2200" dirty="0"/>
          </a:p>
        </p:txBody>
      </p:sp>
      <p:sp>
        <p:nvSpPr>
          <p:cNvPr id="21" name="Text 7">
            <a:extLst>
              <a:ext uri="{FF2B5EF4-FFF2-40B4-BE49-F238E27FC236}">
                <a16:creationId xmlns:a16="http://schemas.microsoft.com/office/drawing/2014/main" id="{8BF85719-BD54-746B-C890-9E05C8EA3F14}"/>
              </a:ext>
            </a:extLst>
          </p:cNvPr>
          <p:cNvSpPr/>
          <p:nvPr/>
        </p:nvSpPr>
        <p:spPr>
          <a:xfrm>
            <a:off x="4480420" y="2451219"/>
            <a:ext cx="3628728" cy="1188245"/>
          </a:xfrm>
          <a:prstGeom prst="rect">
            <a:avLst/>
          </a:prstGeom>
          <a:noFill/>
          <a:ln/>
        </p:spPr>
        <p:txBody>
          <a:bodyPr wrap="square" lIns="0" tIns="0" rIns="0" bIns="0" rtlCol="0" anchor="t"/>
          <a:lstStyle/>
          <a:p>
            <a:pPr algn="ctr">
              <a:lnSpc>
                <a:spcPts val="2850"/>
              </a:lnSpc>
            </a:pPr>
            <a:r>
              <a:rPr lang="en-US" sz="1750" dirty="0">
                <a:solidFill>
                  <a:srgbClr val="272525"/>
                </a:solidFill>
                <a:latin typeface="Lato" pitchFamily="34" charset="0"/>
                <a:ea typeface="Lato" pitchFamily="34" charset="-122"/>
                <a:cs typeface="Lato" pitchFamily="34" charset="-120"/>
              </a:rPr>
              <a:t>4.2–4.5 stars with many reviews build trust.</a:t>
            </a:r>
            <a:endParaRPr lang="en-US" sz="1750" dirty="0"/>
          </a:p>
        </p:txBody>
      </p:sp>
      <p:sp>
        <p:nvSpPr>
          <p:cNvPr id="22" name="Text 8">
            <a:extLst>
              <a:ext uri="{FF2B5EF4-FFF2-40B4-BE49-F238E27FC236}">
                <a16:creationId xmlns:a16="http://schemas.microsoft.com/office/drawing/2014/main" id="{B467AE11-8481-C7B2-FA5A-10C3196D47C8}"/>
              </a:ext>
            </a:extLst>
          </p:cNvPr>
          <p:cNvSpPr/>
          <p:nvPr/>
        </p:nvSpPr>
        <p:spPr>
          <a:xfrm>
            <a:off x="9633391" y="3624935"/>
            <a:ext cx="2496631" cy="580088"/>
          </a:xfrm>
          <a:prstGeom prst="rect">
            <a:avLst/>
          </a:prstGeom>
          <a:noFill/>
          <a:ln/>
        </p:spPr>
        <p:txBody>
          <a:bodyPr wrap="none" lIns="0" tIns="0" rIns="0" bIns="0" rtlCol="0" anchor="t"/>
          <a:lstStyle/>
          <a:p>
            <a:pPr algn="ctr">
              <a:lnSpc>
                <a:spcPts val="2750"/>
              </a:lnSpc>
            </a:pPr>
            <a:r>
              <a:rPr lang="en-US" sz="2200" dirty="0">
                <a:solidFill>
                  <a:srgbClr val="312F2B"/>
                </a:solidFill>
                <a:latin typeface="Gelasio" pitchFamily="34" charset="0"/>
                <a:ea typeface="Gelasio" pitchFamily="34" charset="-122"/>
                <a:cs typeface="Gelasio" pitchFamily="34" charset="-120"/>
              </a:rPr>
              <a:t>Recommendation</a:t>
            </a:r>
            <a:endParaRPr lang="en-US" sz="2200" dirty="0"/>
          </a:p>
        </p:txBody>
      </p:sp>
      <p:sp>
        <p:nvSpPr>
          <p:cNvPr id="23" name="Text 9">
            <a:extLst>
              <a:ext uri="{FF2B5EF4-FFF2-40B4-BE49-F238E27FC236}">
                <a16:creationId xmlns:a16="http://schemas.microsoft.com/office/drawing/2014/main" id="{730CB416-76CB-AF91-81D2-009D80918776}"/>
              </a:ext>
            </a:extLst>
          </p:cNvPr>
          <p:cNvSpPr/>
          <p:nvPr/>
        </p:nvSpPr>
        <p:spPr>
          <a:xfrm>
            <a:off x="8990572" y="4115355"/>
            <a:ext cx="3442633" cy="1188245"/>
          </a:xfrm>
          <a:prstGeom prst="rect">
            <a:avLst/>
          </a:prstGeom>
          <a:noFill/>
          <a:ln/>
        </p:spPr>
        <p:txBody>
          <a:bodyPr wrap="square" lIns="0" tIns="0" rIns="0" bIns="0" rtlCol="0" anchor="t"/>
          <a:lstStyle/>
          <a:p>
            <a:pPr algn="ctr">
              <a:lnSpc>
                <a:spcPts val="2850"/>
              </a:lnSpc>
            </a:pPr>
            <a:r>
              <a:rPr lang="en-US" sz="1750" dirty="0">
                <a:solidFill>
                  <a:srgbClr val="272525"/>
                </a:solidFill>
                <a:latin typeface="Lato" pitchFamily="34" charset="0"/>
                <a:ea typeface="Lato" pitchFamily="34" charset="-122"/>
                <a:cs typeface="Lato" pitchFamily="34" charset="-120"/>
              </a:rPr>
              <a:t>Encourage verified reviews via email campaigns.</a:t>
            </a:r>
            <a:endParaRPr lang="en-US" sz="1750" dirty="0"/>
          </a:p>
        </p:txBody>
      </p:sp>
      <p:sp>
        <p:nvSpPr>
          <p:cNvPr id="30" name="Text 6">
            <a:extLst>
              <a:ext uri="{FF2B5EF4-FFF2-40B4-BE49-F238E27FC236}">
                <a16:creationId xmlns:a16="http://schemas.microsoft.com/office/drawing/2014/main" id="{D72203D8-22A0-6F60-D458-DD8FE2DF9CD2}"/>
              </a:ext>
            </a:extLst>
          </p:cNvPr>
          <p:cNvSpPr/>
          <p:nvPr/>
        </p:nvSpPr>
        <p:spPr>
          <a:xfrm>
            <a:off x="952079" y="1266368"/>
            <a:ext cx="3219571" cy="791409"/>
          </a:xfrm>
          <a:prstGeom prst="rect">
            <a:avLst/>
          </a:prstGeom>
          <a:noFill/>
          <a:ln/>
        </p:spPr>
        <p:txBody>
          <a:bodyPr wrap="none" lIns="0" tIns="0" rIns="0" bIns="0" rtlCol="0" anchor="t"/>
          <a:lstStyle/>
          <a:p>
            <a:pPr>
              <a:lnSpc>
                <a:spcPts val="2750"/>
              </a:lnSpc>
            </a:pPr>
            <a:r>
              <a:rPr lang="en-US" sz="2800" b="1" dirty="0">
                <a:solidFill>
                  <a:srgbClr val="312F2B"/>
                </a:solidFill>
                <a:ea typeface="Gelasio" pitchFamily="34" charset="-122"/>
                <a:cs typeface="Times New Roman" panose="02020603050405020304" pitchFamily="18" charset="0"/>
              </a:rPr>
              <a:t>In Summary:</a:t>
            </a:r>
            <a:endParaRPr lang="en-US" sz="2800" b="1" dirty="0">
              <a:cs typeface="Times New Roman" panose="02020603050405020304" pitchFamily="18" charset="0"/>
            </a:endParaRPr>
          </a:p>
        </p:txBody>
      </p:sp>
    </p:spTree>
    <p:extLst>
      <p:ext uri="{BB962C8B-B14F-4D97-AF65-F5344CB8AC3E}">
        <p14:creationId xmlns:p14="http://schemas.microsoft.com/office/powerpoint/2010/main" val="738958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anim calcmode="lin" valueType="num">
                                      <p:cBhvr>
                                        <p:cTn id="8" dur="250" fill="hold"/>
                                        <p:tgtEl>
                                          <p:spTgt spid="18"/>
                                        </p:tgtEl>
                                        <p:attrNameLst>
                                          <p:attrName>ppt_x</p:attrName>
                                        </p:attrNameLst>
                                      </p:cBhvr>
                                      <p:tavLst>
                                        <p:tav tm="0">
                                          <p:val>
                                            <p:strVal val="#ppt_x"/>
                                          </p:val>
                                        </p:tav>
                                        <p:tav tm="100000">
                                          <p:val>
                                            <p:strVal val="#ppt_x"/>
                                          </p:val>
                                        </p:tav>
                                      </p:tavLst>
                                    </p:anim>
                                    <p:anim calcmode="lin" valueType="num">
                                      <p:cBhvr>
                                        <p:cTn id="9" dur="25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250"/>
                                        <p:tgtEl>
                                          <p:spTgt spid="19"/>
                                        </p:tgtEl>
                                      </p:cBhvr>
                                    </p:animEffect>
                                    <p:anim calcmode="lin" valueType="num">
                                      <p:cBhvr>
                                        <p:cTn id="13" dur="250" fill="hold"/>
                                        <p:tgtEl>
                                          <p:spTgt spid="19"/>
                                        </p:tgtEl>
                                        <p:attrNameLst>
                                          <p:attrName>ppt_x</p:attrName>
                                        </p:attrNameLst>
                                      </p:cBhvr>
                                      <p:tavLst>
                                        <p:tav tm="0">
                                          <p:val>
                                            <p:strVal val="#ppt_x"/>
                                          </p:val>
                                        </p:tav>
                                        <p:tav tm="100000">
                                          <p:val>
                                            <p:strVal val="#ppt_x"/>
                                          </p:val>
                                        </p:tav>
                                      </p:tavLst>
                                    </p:anim>
                                    <p:anim calcmode="lin" valueType="num">
                                      <p:cBhvr>
                                        <p:cTn id="14" dur="25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250"/>
                                        <p:tgtEl>
                                          <p:spTgt spid="20"/>
                                        </p:tgtEl>
                                      </p:cBhvr>
                                    </p:animEffect>
                                    <p:anim calcmode="lin" valueType="num">
                                      <p:cBhvr>
                                        <p:cTn id="18" dur="250" fill="hold"/>
                                        <p:tgtEl>
                                          <p:spTgt spid="20"/>
                                        </p:tgtEl>
                                        <p:attrNameLst>
                                          <p:attrName>ppt_x</p:attrName>
                                        </p:attrNameLst>
                                      </p:cBhvr>
                                      <p:tavLst>
                                        <p:tav tm="0">
                                          <p:val>
                                            <p:strVal val="#ppt_x"/>
                                          </p:val>
                                        </p:tav>
                                        <p:tav tm="100000">
                                          <p:val>
                                            <p:strVal val="#ppt_x"/>
                                          </p:val>
                                        </p:tav>
                                      </p:tavLst>
                                    </p:anim>
                                    <p:anim calcmode="lin" valueType="num">
                                      <p:cBhvr>
                                        <p:cTn id="19" dur="250" fill="hold"/>
                                        <p:tgtEl>
                                          <p:spTgt spid="2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anim calcmode="lin" valueType="num">
                                      <p:cBhvr>
                                        <p:cTn id="23" dur="250" fill="hold"/>
                                        <p:tgtEl>
                                          <p:spTgt spid="21"/>
                                        </p:tgtEl>
                                        <p:attrNameLst>
                                          <p:attrName>ppt_x</p:attrName>
                                        </p:attrNameLst>
                                      </p:cBhvr>
                                      <p:tavLst>
                                        <p:tav tm="0">
                                          <p:val>
                                            <p:strVal val="#ppt_x"/>
                                          </p:val>
                                        </p:tav>
                                        <p:tav tm="100000">
                                          <p:val>
                                            <p:strVal val="#ppt_x"/>
                                          </p:val>
                                        </p:tav>
                                      </p:tavLst>
                                    </p:anim>
                                    <p:anim calcmode="lin" valueType="num">
                                      <p:cBhvr>
                                        <p:cTn id="24" dur="25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250"/>
                                        <p:tgtEl>
                                          <p:spTgt spid="22"/>
                                        </p:tgtEl>
                                      </p:cBhvr>
                                    </p:animEffect>
                                    <p:anim calcmode="lin" valueType="num">
                                      <p:cBhvr>
                                        <p:cTn id="28" dur="250" fill="hold"/>
                                        <p:tgtEl>
                                          <p:spTgt spid="22"/>
                                        </p:tgtEl>
                                        <p:attrNameLst>
                                          <p:attrName>ppt_x</p:attrName>
                                        </p:attrNameLst>
                                      </p:cBhvr>
                                      <p:tavLst>
                                        <p:tav tm="0">
                                          <p:val>
                                            <p:strVal val="#ppt_x"/>
                                          </p:val>
                                        </p:tav>
                                        <p:tav tm="100000">
                                          <p:val>
                                            <p:strVal val="#ppt_x"/>
                                          </p:val>
                                        </p:tav>
                                      </p:tavLst>
                                    </p:anim>
                                    <p:anim calcmode="lin" valueType="num">
                                      <p:cBhvr>
                                        <p:cTn id="29" dur="250" fill="hold"/>
                                        <p:tgtEl>
                                          <p:spTgt spid="2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250"/>
                                        <p:tgtEl>
                                          <p:spTgt spid="23"/>
                                        </p:tgtEl>
                                      </p:cBhvr>
                                    </p:animEffect>
                                    <p:anim calcmode="lin" valueType="num">
                                      <p:cBhvr>
                                        <p:cTn id="33" dur="250" fill="hold"/>
                                        <p:tgtEl>
                                          <p:spTgt spid="23"/>
                                        </p:tgtEl>
                                        <p:attrNameLst>
                                          <p:attrName>ppt_x</p:attrName>
                                        </p:attrNameLst>
                                      </p:cBhvr>
                                      <p:tavLst>
                                        <p:tav tm="0">
                                          <p:val>
                                            <p:strVal val="#ppt_x"/>
                                          </p:val>
                                        </p:tav>
                                        <p:tav tm="100000">
                                          <p:val>
                                            <p:strVal val="#ppt_x"/>
                                          </p:val>
                                        </p:tav>
                                      </p:tavLst>
                                    </p:anim>
                                    <p:anim calcmode="lin" valueType="num">
                                      <p:cBhvr>
                                        <p:cTn id="34" dur="250" fill="hold"/>
                                        <p:tgtEl>
                                          <p:spTgt spid="2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anim calcmode="lin" valueType="num">
                                      <p:cBhvr>
                                        <p:cTn id="38" dur="250" fill="hold"/>
                                        <p:tgtEl>
                                          <p:spTgt spid="15"/>
                                        </p:tgtEl>
                                        <p:attrNameLst>
                                          <p:attrName>ppt_x</p:attrName>
                                        </p:attrNameLst>
                                      </p:cBhvr>
                                      <p:tavLst>
                                        <p:tav tm="0">
                                          <p:val>
                                            <p:strVal val="#ppt_x"/>
                                          </p:val>
                                        </p:tav>
                                        <p:tav tm="100000">
                                          <p:val>
                                            <p:strVal val="#ppt_x"/>
                                          </p:val>
                                        </p:tav>
                                      </p:tavLst>
                                    </p:anim>
                                    <p:anim calcmode="lin" valueType="num">
                                      <p:cBhvr>
                                        <p:cTn id="39" dur="25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F528ED6D-8707-2593-0221-1780F78DA6F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DEDE2A6-ABD0-F2DC-089C-94D90FB67104}"/>
              </a:ext>
            </a:extLst>
          </p:cNvPr>
          <p:cNvPicPr>
            <a:picLocks noChangeAspect="1"/>
          </p:cNvPicPr>
          <p:nvPr/>
        </p:nvPicPr>
        <p:blipFill>
          <a:blip r:embed="rId2"/>
          <a:stretch>
            <a:fillRect/>
          </a:stretch>
        </p:blipFill>
        <p:spPr>
          <a:xfrm>
            <a:off x="7475499" y="986094"/>
            <a:ext cx="4975265" cy="7462898"/>
          </a:xfrm>
          <a:prstGeom prst="rect">
            <a:avLst/>
          </a:prstGeom>
        </p:spPr>
      </p:pic>
      <p:sp>
        <p:nvSpPr>
          <p:cNvPr id="3" name="Text 0">
            <a:extLst>
              <a:ext uri="{FF2B5EF4-FFF2-40B4-BE49-F238E27FC236}">
                <a16:creationId xmlns:a16="http://schemas.microsoft.com/office/drawing/2014/main" id="{4BC8F6CC-364B-4DF8-284C-4B103EA97459}"/>
              </a:ext>
            </a:extLst>
          </p:cNvPr>
          <p:cNvSpPr/>
          <p:nvPr/>
        </p:nvSpPr>
        <p:spPr>
          <a:xfrm>
            <a:off x="471529" y="457400"/>
            <a:ext cx="7052429" cy="708779"/>
          </a:xfrm>
          <a:prstGeom prst="rect">
            <a:avLst/>
          </a:prstGeom>
          <a:noFill/>
          <a:ln/>
        </p:spPr>
        <p:txBody>
          <a:bodyPr wrap="none" lIns="0" tIns="0" rIns="0" bIns="0" rtlCol="0" anchor="t"/>
          <a:lstStyle/>
          <a:p>
            <a:pPr>
              <a:lnSpc>
                <a:spcPts val="5550"/>
              </a:lnSpc>
            </a:pPr>
            <a:r>
              <a:rPr lang="en-US" sz="4450" dirty="0">
                <a:solidFill>
                  <a:srgbClr val="312F2B"/>
                </a:solidFill>
                <a:latin typeface="Gelasio" pitchFamily="34" charset="0"/>
                <a:ea typeface="Gelasio" pitchFamily="34" charset="-122"/>
                <a:cs typeface="Gelasio" pitchFamily="34" charset="-120"/>
              </a:rPr>
              <a:t>Strategic Recommendations</a:t>
            </a:r>
            <a:endParaRPr lang="en-US" sz="4450" dirty="0"/>
          </a:p>
        </p:txBody>
      </p:sp>
      <p:sp>
        <p:nvSpPr>
          <p:cNvPr id="5" name="Text 1">
            <a:extLst>
              <a:ext uri="{FF2B5EF4-FFF2-40B4-BE49-F238E27FC236}">
                <a16:creationId xmlns:a16="http://schemas.microsoft.com/office/drawing/2014/main" id="{32C7C8AF-2096-5A72-EF49-37B2BA8F0D7C}"/>
              </a:ext>
            </a:extLst>
          </p:cNvPr>
          <p:cNvSpPr/>
          <p:nvPr/>
        </p:nvSpPr>
        <p:spPr>
          <a:xfrm>
            <a:off x="1785324" y="2022147"/>
            <a:ext cx="2835235" cy="354330"/>
          </a:xfrm>
          <a:prstGeom prst="rect">
            <a:avLst/>
          </a:prstGeom>
          <a:noFill/>
          <a:ln/>
        </p:spPr>
        <p:txBody>
          <a:bodyPr wrap="none" lIns="0" tIns="0" rIns="0" bIns="0" rtlCol="0" anchor="t"/>
          <a:lstStyle/>
          <a:p>
            <a:pPr>
              <a:lnSpc>
                <a:spcPts val="2750"/>
              </a:lnSpc>
            </a:pPr>
            <a:r>
              <a:rPr lang="en-US" sz="2200" dirty="0">
                <a:solidFill>
                  <a:srgbClr val="272525"/>
                </a:solidFill>
                <a:latin typeface="Gelasio" pitchFamily="34" charset="0"/>
                <a:ea typeface="Gelasio" pitchFamily="34" charset="-122"/>
                <a:cs typeface="Gelasio" pitchFamily="34" charset="-120"/>
              </a:rPr>
              <a:t>Test Discounts</a:t>
            </a:r>
            <a:endParaRPr lang="en-US" sz="2200" dirty="0"/>
          </a:p>
        </p:txBody>
      </p:sp>
      <p:sp>
        <p:nvSpPr>
          <p:cNvPr id="7" name="Text 3">
            <a:extLst>
              <a:ext uri="{FF2B5EF4-FFF2-40B4-BE49-F238E27FC236}">
                <a16:creationId xmlns:a16="http://schemas.microsoft.com/office/drawing/2014/main" id="{4B10A01A-CEBB-7D40-053D-AC554B07DEA0}"/>
              </a:ext>
            </a:extLst>
          </p:cNvPr>
          <p:cNvSpPr/>
          <p:nvPr/>
        </p:nvSpPr>
        <p:spPr>
          <a:xfrm>
            <a:off x="1715930" y="3965266"/>
            <a:ext cx="2835235" cy="354330"/>
          </a:xfrm>
          <a:prstGeom prst="rect">
            <a:avLst/>
          </a:prstGeom>
          <a:noFill/>
          <a:ln/>
        </p:spPr>
        <p:txBody>
          <a:bodyPr wrap="none" lIns="0" tIns="0" rIns="0" bIns="0" rtlCol="0" anchor="t"/>
          <a:lstStyle/>
          <a:p>
            <a:pPr>
              <a:lnSpc>
                <a:spcPts val="2750"/>
              </a:lnSpc>
            </a:pPr>
            <a:r>
              <a:rPr lang="en-US" sz="2200" dirty="0">
                <a:solidFill>
                  <a:srgbClr val="272525"/>
                </a:solidFill>
                <a:latin typeface="Gelasio" pitchFamily="34" charset="0"/>
                <a:ea typeface="Gelasio" pitchFamily="34" charset="-122"/>
                <a:cs typeface="Gelasio" pitchFamily="34" charset="-120"/>
              </a:rPr>
              <a:t>Monitor Margins</a:t>
            </a:r>
            <a:endParaRPr lang="en-US" sz="2200" dirty="0"/>
          </a:p>
        </p:txBody>
      </p:sp>
      <p:sp>
        <p:nvSpPr>
          <p:cNvPr id="12" name="TextBox 11">
            <a:extLst>
              <a:ext uri="{FF2B5EF4-FFF2-40B4-BE49-F238E27FC236}">
                <a16:creationId xmlns:a16="http://schemas.microsoft.com/office/drawing/2014/main" id="{BA149BF3-1F58-8473-FBDC-FE7B04A307A7}"/>
              </a:ext>
            </a:extLst>
          </p:cNvPr>
          <p:cNvSpPr txBox="1"/>
          <p:nvPr/>
        </p:nvSpPr>
        <p:spPr>
          <a:xfrm>
            <a:off x="1767733" y="2414086"/>
            <a:ext cx="5049559" cy="1754326"/>
          </a:xfrm>
          <a:prstGeom prst="rect">
            <a:avLst/>
          </a:prstGeom>
          <a:noFill/>
        </p:spPr>
        <p:txBody>
          <a:bodyPr wrap="square" rtlCol="0">
            <a:spAutoFit/>
          </a:bodyPr>
          <a:lstStyle/>
          <a:p>
            <a:r>
              <a:rPr lang="en-US" kern="100" dirty="0">
                <a:latin typeface="Aptos" panose="020B0004020202020204" pitchFamily="34" charset="0"/>
                <a:ea typeface="Aptos" panose="020B0004020202020204" pitchFamily="34" charset="0"/>
                <a:cs typeface="Arial" panose="020B0604020202020204" pitchFamily="34" charset="0"/>
              </a:rPr>
              <a:t>Run controlled experiments with discount percentages—perhaps using A/B testing on your website or targeted promotions—to validate if higher discounts consistently drive more sales. Use these insights to refine your pricing strategy.</a:t>
            </a:r>
          </a:p>
          <a:p>
            <a:endParaRPr lang="en-US" dirty="0"/>
          </a:p>
        </p:txBody>
      </p:sp>
      <p:sp>
        <p:nvSpPr>
          <p:cNvPr id="13" name="TextBox 12">
            <a:extLst>
              <a:ext uri="{FF2B5EF4-FFF2-40B4-BE49-F238E27FC236}">
                <a16:creationId xmlns:a16="http://schemas.microsoft.com/office/drawing/2014/main" id="{6D860EEA-044D-84F9-4D0A-BEDB0F8B83EC}"/>
              </a:ext>
            </a:extLst>
          </p:cNvPr>
          <p:cNvSpPr txBox="1"/>
          <p:nvPr/>
        </p:nvSpPr>
        <p:spPr>
          <a:xfrm>
            <a:off x="1715930" y="4308438"/>
            <a:ext cx="4646862" cy="1754326"/>
          </a:xfrm>
          <a:prstGeom prst="rect">
            <a:avLst/>
          </a:prstGeom>
          <a:noFill/>
        </p:spPr>
        <p:txBody>
          <a:bodyPr wrap="square" rtlCol="0">
            <a:spAutoFit/>
          </a:bodyPr>
          <a:lstStyle/>
          <a:p>
            <a:r>
              <a:rPr lang="en-US" kern="100" dirty="0">
                <a:latin typeface="Aptos" panose="020B0004020202020204" pitchFamily="34" charset="0"/>
                <a:ea typeface="Aptos" panose="020B0004020202020204" pitchFamily="34" charset="0"/>
                <a:cs typeface="Arial" panose="020B0604020202020204" pitchFamily="34" charset="0"/>
              </a:rPr>
              <a:t>While higher discounts may drive sales volume, they can also reduce your profit margins. Evaluate whether the increased volume compensates for the lower margin per product.</a:t>
            </a:r>
          </a:p>
          <a:p>
            <a:endParaRPr lang="en-US" dirty="0"/>
          </a:p>
        </p:txBody>
      </p:sp>
      <p:grpSp>
        <p:nvGrpSpPr>
          <p:cNvPr id="15" name="Group 14">
            <a:extLst>
              <a:ext uri="{FF2B5EF4-FFF2-40B4-BE49-F238E27FC236}">
                <a16:creationId xmlns:a16="http://schemas.microsoft.com/office/drawing/2014/main" id="{952B548A-F05B-B023-5A4E-25FF0B212386}"/>
              </a:ext>
            </a:extLst>
          </p:cNvPr>
          <p:cNvGrpSpPr/>
          <p:nvPr/>
        </p:nvGrpSpPr>
        <p:grpSpPr>
          <a:xfrm>
            <a:off x="522065" y="1636106"/>
            <a:ext cx="1134070" cy="2329160"/>
            <a:chOff x="299740" y="1569385"/>
            <a:chExt cx="1134070" cy="2329160"/>
          </a:xfrm>
        </p:grpSpPr>
        <p:sp>
          <p:nvSpPr>
            <p:cNvPr id="17" name="Arrow: Chevron 16">
              <a:extLst>
                <a:ext uri="{FF2B5EF4-FFF2-40B4-BE49-F238E27FC236}">
                  <a16:creationId xmlns:a16="http://schemas.microsoft.com/office/drawing/2014/main" id="{C82AE6F1-75C7-6D57-57CE-82285CB6E560}"/>
                </a:ext>
              </a:extLst>
            </p:cNvPr>
            <p:cNvSpPr/>
            <p:nvPr/>
          </p:nvSpPr>
          <p:spPr>
            <a:xfrm rot="5400000">
              <a:off x="-297805" y="2166930"/>
              <a:ext cx="2329160" cy="1134070"/>
            </a:xfrm>
            <a:prstGeom prst="chevron">
              <a:avLst>
                <a:gd name="adj" fmla="val 40761"/>
              </a:avLst>
            </a:prstGeom>
            <a:solidFill>
              <a:srgbClr val="E8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4" name="TextBox 13">
              <a:extLst>
                <a:ext uri="{FF2B5EF4-FFF2-40B4-BE49-F238E27FC236}">
                  <a16:creationId xmlns:a16="http://schemas.microsoft.com/office/drawing/2014/main" id="{AB6B8817-3CF1-B1E3-03E0-E73BEEDF135F}"/>
                </a:ext>
              </a:extLst>
            </p:cNvPr>
            <p:cNvSpPr txBox="1"/>
            <p:nvPr/>
          </p:nvSpPr>
          <p:spPr>
            <a:xfrm>
              <a:off x="641732" y="2467585"/>
              <a:ext cx="418059" cy="584775"/>
            </a:xfrm>
            <a:prstGeom prst="rect">
              <a:avLst/>
            </a:prstGeom>
            <a:noFill/>
          </p:spPr>
          <p:txBody>
            <a:bodyPr wrap="square" rtlCol="0">
              <a:spAutoFit/>
            </a:bodyPr>
            <a:lstStyle/>
            <a:p>
              <a:r>
                <a:rPr lang="en-US" sz="3200" dirty="0">
                  <a:latin typeface="Broadway" panose="04040905080B02020502" pitchFamily="82" charset="0"/>
                </a:rPr>
                <a:t>1</a:t>
              </a:r>
              <a:endParaRPr lang="en-US" sz="2000" dirty="0">
                <a:latin typeface="Broadway" panose="04040905080B02020502" pitchFamily="82" charset="0"/>
              </a:endParaRPr>
            </a:p>
          </p:txBody>
        </p:sp>
      </p:grpSp>
      <p:grpSp>
        <p:nvGrpSpPr>
          <p:cNvPr id="20" name="Group 19">
            <a:extLst>
              <a:ext uri="{FF2B5EF4-FFF2-40B4-BE49-F238E27FC236}">
                <a16:creationId xmlns:a16="http://schemas.microsoft.com/office/drawing/2014/main" id="{22A886B5-EE18-17C1-85BB-BE1D4F064061}"/>
              </a:ext>
            </a:extLst>
          </p:cNvPr>
          <p:cNvGrpSpPr/>
          <p:nvPr/>
        </p:nvGrpSpPr>
        <p:grpSpPr>
          <a:xfrm>
            <a:off x="522065" y="3698886"/>
            <a:ext cx="1134070" cy="2329160"/>
            <a:chOff x="328403" y="3541439"/>
            <a:chExt cx="1134070" cy="2329160"/>
          </a:xfrm>
        </p:grpSpPr>
        <p:sp>
          <p:nvSpPr>
            <p:cNvPr id="16" name="Arrow: Chevron 15">
              <a:extLst>
                <a:ext uri="{FF2B5EF4-FFF2-40B4-BE49-F238E27FC236}">
                  <a16:creationId xmlns:a16="http://schemas.microsoft.com/office/drawing/2014/main" id="{A885BCB3-9DAB-7CFF-362B-7AE16C1D9C60}"/>
                </a:ext>
              </a:extLst>
            </p:cNvPr>
            <p:cNvSpPr/>
            <p:nvPr/>
          </p:nvSpPr>
          <p:spPr>
            <a:xfrm rot="5400000">
              <a:off x="-269142" y="4138984"/>
              <a:ext cx="2329160" cy="1134070"/>
            </a:xfrm>
            <a:prstGeom prst="chevron">
              <a:avLst>
                <a:gd name="adj" fmla="val 40761"/>
              </a:avLst>
            </a:prstGeom>
            <a:solidFill>
              <a:srgbClr val="E8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F33A86FB-ED8C-AA43-1948-83A5E172F1B9}"/>
                </a:ext>
              </a:extLst>
            </p:cNvPr>
            <p:cNvSpPr txBox="1"/>
            <p:nvPr/>
          </p:nvSpPr>
          <p:spPr>
            <a:xfrm>
              <a:off x="656520" y="4460378"/>
              <a:ext cx="418059" cy="584775"/>
            </a:xfrm>
            <a:prstGeom prst="rect">
              <a:avLst/>
            </a:prstGeom>
            <a:noFill/>
          </p:spPr>
          <p:txBody>
            <a:bodyPr wrap="square" rtlCol="0">
              <a:spAutoFit/>
            </a:bodyPr>
            <a:lstStyle/>
            <a:p>
              <a:r>
                <a:rPr lang="en-US" sz="3200" dirty="0">
                  <a:latin typeface="Broadway" panose="04040905080B02020502" pitchFamily="82" charset="0"/>
                </a:rPr>
                <a:t>2</a:t>
              </a:r>
              <a:endParaRPr lang="en-US" sz="2000" dirty="0">
                <a:latin typeface="Broadway" panose="04040905080B02020502" pitchFamily="82" charset="0"/>
              </a:endParaRPr>
            </a:p>
          </p:txBody>
        </p:sp>
      </p:grpSp>
    </p:spTree>
    <p:extLst>
      <p:ext uri="{BB962C8B-B14F-4D97-AF65-F5344CB8AC3E}">
        <p14:creationId xmlns:p14="http://schemas.microsoft.com/office/powerpoint/2010/main" val="284685292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a:extLst>
            <a:ext uri="{FF2B5EF4-FFF2-40B4-BE49-F238E27FC236}">
              <a16:creationId xmlns:a16="http://schemas.microsoft.com/office/drawing/2014/main" id="{A6353E3B-F290-069C-26DF-4E49C71DC39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373D6BB-6AB1-8C4C-0B3F-D9E31432A03C}"/>
              </a:ext>
            </a:extLst>
          </p:cNvPr>
          <p:cNvPicPr>
            <a:picLocks noChangeAspect="1"/>
          </p:cNvPicPr>
          <p:nvPr/>
        </p:nvPicPr>
        <p:blipFill>
          <a:blip r:embed="rId2"/>
          <a:stretch>
            <a:fillRect/>
          </a:stretch>
        </p:blipFill>
        <p:spPr>
          <a:xfrm>
            <a:off x="7475499" y="986094"/>
            <a:ext cx="4975265" cy="7462898"/>
          </a:xfrm>
          <a:prstGeom prst="rect">
            <a:avLst/>
          </a:prstGeom>
        </p:spPr>
      </p:pic>
      <p:sp>
        <p:nvSpPr>
          <p:cNvPr id="3" name="Text 0">
            <a:extLst>
              <a:ext uri="{FF2B5EF4-FFF2-40B4-BE49-F238E27FC236}">
                <a16:creationId xmlns:a16="http://schemas.microsoft.com/office/drawing/2014/main" id="{6465C21E-3B0B-07A7-493C-76B42B8445CF}"/>
              </a:ext>
            </a:extLst>
          </p:cNvPr>
          <p:cNvSpPr/>
          <p:nvPr/>
        </p:nvSpPr>
        <p:spPr>
          <a:xfrm>
            <a:off x="471529" y="457400"/>
            <a:ext cx="7052429" cy="708779"/>
          </a:xfrm>
          <a:prstGeom prst="rect">
            <a:avLst/>
          </a:prstGeom>
          <a:noFill/>
          <a:ln/>
        </p:spPr>
        <p:txBody>
          <a:bodyPr wrap="none" lIns="0" tIns="0" rIns="0" bIns="0" rtlCol="0" anchor="t"/>
          <a:lstStyle/>
          <a:p>
            <a:pPr>
              <a:lnSpc>
                <a:spcPts val="5550"/>
              </a:lnSpc>
            </a:pPr>
            <a:r>
              <a:rPr lang="en-US" sz="4450" dirty="0">
                <a:solidFill>
                  <a:srgbClr val="312F2B"/>
                </a:solidFill>
                <a:latin typeface="Gelasio" pitchFamily="34" charset="0"/>
                <a:ea typeface="Gelasio" pitchFamily="34" charset="-122"/>
                <a:cs typeface="Gelasio" pitchFamily="34" charset="-120"/>
              </a:rPr>
              <a:t>Strategic Recommendations</a:t>
            </a:r>
            <a:endParaRPr lang="en-US" sz="4450" dirty="0"/>
          </a:p>
        </p:txBody>
      </p:sp>
      <p:sp>
        <p:nvSpPr>
          <p:cNvPr id="9" name="Text 5">
            <a:extLst>
              <a:ext uri="{FF2B5EF4-FFF2-40B4-BE49-F238E27FC236}">
                <a16:creationId xmlns:a16="http://schemas.microsoft.com/office/drawing/2014/main" id="{7F90AD67-5AFD-4390-94F7-7A40BD0E3BF7}"/>
              </a:ext>
            </a:extLst>
          </p:cNvPr>
          <p:cNvSpPr/>
          <p:nvPr/>
        </p:nvSpPr>
        <p:spPr>
          <a:xfrm>
            <a:off x="1689626" y="1712609"/>
            <a:ext cx="2835235" cy="354330"/>
          </a:xfrm>
          <a:prstGeom prst="rect">
            <a:avLst/>
          </a:prstGeom>
          <a:noFill/>
          <a:ln/>
        </p:spPr>
        <p:txBody>
          <a:bodyPr wrap="none" lIns="0" tIns="0" rIns="0" bIns="0" rtlCol="0" anchor="t"/>
          <a:lstStyle/>
          <a:p>
            <a:pPr>
              <a:lnSpc>
                <a:spcPts val="2750"/>
              </a:lnSpc>
            </a:pPr>
            <a:r>
              <a:rPr lang="en-US" sz="2200" dirty="0">
                <a:solidFill>
                  <a:srgbClr val="272525"/>
                </a:solidFill>
                <a:latin typeface="Gelasio" pitchFamily="34" charset="0"/>
                <a:ea typeface="Gelasio" pitchFamily="34" charset="-122"/>
                <a:cs typeface="Gelasio" pitchFamily="34" charset="-120"/>
              </a:rPr>
              <a:t>Segment Products</a:t>
            </a:r>
            <a:endParaRPr lang="en-US" sz="2200" dirty="0"/>
          </a:p>
        </p:txBody>
      </p:sp>
      <p:sp>
        <p:nvSpPr>
          <p:cNvPr id="11" name="Text 7">
            <a:extLst>
              <a:ext uri="{FF2B5EF4-FFF2-40B4-BE49-F238E27FC236}">
                <a16:creationId xmlns:a16="http://schemas.microsoft.com/office/drawing/2014/main" id="{3DE6F446-EC8D-D3F1-35F5-1A9C2F3D691C}"/>
              </a:ext>
            </a:extLst>
          </p:cNvPr>
          <p:cNvSpPr/>
          <p:nvPr/>
        </p:nvSpPr>
        <p:spPr>
          <a:xfrm>
            <a:off x="1689627" y="3688516"/>
            <a:ext cx="2835235" cy="354330"/>
          </a:xfrm>
          <a:prstGeom prst="rect">
            <a:avLst/>
          </a:prstGeom>
          <a:noFill/>
          <a:ln/>
        </p:spPr>
        <p:txBody>
          <a:bodyPr wrap="none" lIns="0" tIns="0" rIns="0" bIns="0" rtlCol="0" anchor="t"/>
          <a:lstStyle/>
          <a:p>
            <a:pPr>
              <a:lnSpc>
                <a:spcPts val="2750"/>
              </a:lnSpc>
            </a:pPr>
            <a:r>
              <a:rPr lang="en-US" sz="2200" dirty="0">
                <a:solidFill>
                  <a:srgbClr val="272525"/>
                </a:solidFill>
                <a:latin typeface="Gelasio" pitchFamily="34" charset="0"/>
                <a:ea typeface="Gelasio" pitchFamily="34" charset="-122"/>
                <a:cs typeface="Gelasio" pitchFamily="34" charset="-120"/>
              </a:rPr>
              <a:t>Integrate Metrics</a:t>
            </a:r>
            <a:endParaRPr lang="en-US" sz="2200" dirty="0"/>
          </a:p>
        </p:txBody>
      </p:sp>
      <p:sp>
        <p:nvSpPr>
          <p:cNvPr id="12" name="TextBox 11">
            <a:extLst>
              <a:ext uri="{FF2B5EF4-FFF2-40B4-BE49-F238E27FC236}">
                <a16:creationId xmlns:a16="http://schemas.microsoft.com/office/drawing/2014/main" id="{50D749FF-95D6-B6DD-71AB-4468221DE4B3}"/>
              </a:ext>
            </a:extLst>
          </p:cNvPr>
          <p:cNvSpPr txBox="1"/>
          <p:nvPr/>
        </p:nvSpPr>
        <p:spPr>
          <a:xfrm>
            <a:off x="1589909" y="2050481"/>
            <a:ext cx="5869900" cy="1477328"/>
          </a:xfrm>
          <a:prstGeom prst="rect">
            <a:avLst/>
          </a:prstGeom>
          <a:noFill/>
        </p:spPr>
        <p:txBody>
          <a:bodyPr wrap="square" rtlCol="0">
            <a:spAutoFit/>
          </a:bodyPr>
          <a:lstStyle/>
          <a:p>
            <a:r>
              <a:rPr lang="en-US" dirty="0">
                <a:latin typeface="Aptos" panose="020B0004020202020204" pitchFamily="34" charset="0"/>
                <a:ea typeface="Aptos" panose="020B0004020202020204" pitchFamily="34" charset="0"/>
                <a:cs typeface="Arial" panose="020B0604020202020204" pitchFamily="34" charset="0"/>
              </a:rPr>
              <a:t>Different products might respond differently to discounting. For example, flagship models might sell well even with lower discounts, while budget models might require higher discounts to move. Segment your products and analyze them separately to fine-tune your strategy.</a:t>
            </a:r>
            <a:endParaRPr lang="en-US" dirty="0"/>
          </a:p>
        </p:txBody>
      </p:sp>
      <p:sp>
        <p:nvSpPr>
          <p:cNvPr id="14" name="TextBox 13">
            <a:extLst>
              <a:ext uri="{FF2B5EF4-FFF2-40B4-BE49-F238E27FC236}">
                <a16:creationId xmlns:a16="http://schemas.microsoft.com/office/drawing/2014/main" id="{D4F576EC-9B8C-9D1F-C1B7-F28F3DC2574A}"/>
              </a:ext>
            </a:extLst>
          </p:cNvPr>
          <p:cNvSpPr txBox="1"/>
          <p:nvPr/>
        </p:nvSpPr>
        <p:spPr>
          <a:xfrm>
            <a:off x="1621287" y="4068442"/>
            <a:ext cx="5685977" cy="1754326"/>
          </a:xfrm>
          <a:prstGeom prst="rect">
            <a:avLst/>
          </a:prstGeom>
          <a:noFill/>
        </p:spPr>
        <p:txBody>
          <a:bodyPr wrap="square">
            <a:spAutoFit/>
          </a:bodyPr>
          <a:lstStyle/>
          <a:p>
            <a:r>
              <a:rPr lang="en-US" dirty="0">
                <a:latin typeface="Aptos" panose="020B0004020202020204" pitchFamily="34" charset="0"/>
                <a:ea typeface="Aptos" panose="020B0004020202020204" pitchFamily="34" charset="0"/>
                <a:cs typeface="Arial" panose="020B0604020202020204" pitchFamily="34" charset="0"/>
              </a:rPr>
              <a:t>Integrate customer ratings, review counts, and badge data (like Amazon’s Choice or Best Seller) with your discount analysis. For instance, products with high ratings and mid-range discounts might be your best performers, indicating a strong overall value proposition.</a:t>
            </a:r>
            <a:endParaRPr lang="en-US" dirty="0"/>
          </a:p>
        </p:txBody>
      </p:sp>
      <p:grpSp>
        <p:nvGrpSpPr>
          <p:cNvPr id="19" name="Group 18">
            <a:extLst>
              <a:ext uri="{FF2B5EF4-FFF2-40B4-BE49-F238E27FC236}">
                <a16:creationId xmlns:a16="http://schemas.microsoft.com/office/drawing/2014/main" id="{583A16D1-FFA6-68A7-5A9F-517F30B148FD}"/>
              </a:ext>
            </a:extLst>
          </p:cNvPr>
          <p:cNvGrpSpPr/>
          <p:nvPr/>
        </p:nvGrpSpPr>
        <p:grpSpPr>
          <a:xfrm>
            <a:off x="471437" y="1635239"/>
            <a:ext cx="1134070" cy="2329160"/>
            <a:chOff x="328403" y="3541439"/>
            <a:chExt cx="1134070" cy="2329160"/>
          </a:xfrm>
        </p:grpSpPr>
        <p:sp>
          <p:nvSpPr>
            <p:cNvPr id="20" name="Arrow: Chevron 19">
              <a:extLst>
                <a:ext uri="{FF2B5EF4-FFF2-40B4-BE49-F238E27FC236}">
                  <a16:creationId xmlns:a16="http://schemas.microsoft.com/office/drawing/2014/main" id="{D8FE1096-82EC-5187-102C-0FB28CD3DDE4}"/>
                </a:ext>
              </a:extLst>
            </p:cNvPr>
            <p:cNvSpPr/>
            <p:nvPr/>
          </p:nvSpPr>
          <p:spPr>
            <a:xfrm rot="5400000">
              <a:off x="-269142" y="4138984"/>
              <a:ext cx="2329160" cy="1134070"/>
            </a:xfrm>
            <a:prstGeom prst="chevron">
              <a:avLst>
                <a:gd name="adj" fmla="val 40761"/>
              </a:avLst>
            </a:prstGeom>
            <a:solidFill>
              <a:srgbClr val="E8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1" name="TextBox 20">
              <a:extLst>
                <a:ext uri="{FF2B5EF4-FFF2-40B4-BE49-F238E27FC236}">
                  <a16:creationId xmlns:a16="http://schemas.microsoft.com/office/drawing/2014/main" id="{83078F64-A611-353E-B589-2E5076D53CA3}"/>
                </a:ext>
              </a:extLst>
            </p:cNvPr>
            <p:cNvSpPr txBox="1"/>
            <p:nvPr/>
          </p:nvSpPr>
          <p:spPr>
            <a:xfrm>
              <a:off x="656520" y="4460378"/>
              <a:ext cx="418059" cy="584775"/>
            </a:xfrm>
            <a:prstGeom prst="rect">
              <a:avLst/>
            </a:prstGeom>
            <a:noFill/>
          </p:spPr>
          <p:txBody>
            <a:bodyPr wrap="square" rtlCol="0">
              <a:spAutoFit/>
            </a:bodyPr>
            <a:lstStyle/>
            <a:p>
              <a:r>
                <a:rPr lang="en-US" sz="3200" dirty="0">
                  <a:latin typeface="Broadway" panose="04040905080B02020502" pitchFamily="82" charset="0"/>
                </a:rPr>
                <a:t>3</a:t>
              </a:r>
              <a:endParaRPr lang="en-US" sz="2000" dirty="0">
                <a:latin typeface="Broadway" panose="04040905080B02020502" pitchFamily="82" charset="0"/>
              </a:endParaRPr>
            </a:p>
          </p:txBody>
        </p:sp>
      </p:grpSp>
      <p:grpSp>
        <p:nvGrpSpPr>
          <p:cNvPr id="22" name="Group 21">
            <a:extLst>
              <a:ext uri="{FF2B5EF4-FFF2-40B4-BE49-F238E27FC236}">
                <a16:creationId xmlns:a16="http://schemas.microsoft.com/office/drawing/2014/main" id="{531EFADA-1398-9289-D480-CC754F69427D}"/>
              </a:ext>
            </a:extLst>
          </p:cNvPr>
          <p:cNvGrpSpPr/>
          <p:nvPr/>
        </p:nvGrpSpPr>
        <p:grpSpPr>
          <a:xfrm>
            <a:off x="480401" y="3688516"/>
            <a:ext cx="1134070" cy="2329160"/>
            <a:chOff x="328403" y="3541439"/>
            <a:chExt cx="1134070" cy="2329160"/>
          </a:xfrm>
        </p:grpSpPr>
        <p:sp>
          <p:nvSpPr>
            <p:cNvPr id="23" name="Arrow: Chevron 22">
              <a:extLst>
                <a:ext uri="{FF2B5EF4-FFF2-40B4-BE49-F238E27FC236}">
                  <a16:creationId xmlns:a16="http://schemas.microsoft.com/office/drawing/2014/main" id="{46776AD6-6827-63AD-1E6C-D7B7D207BAFA}"/>
                </a:ext>
              </a:extLst>
            </p:cNvPr>
            <p:cNvSpPr/>
            <p:nvPr/>
          </p:nvSpPr>
          <p:spPr>
            <a:xfrm rot="5400000">
              <a:off x="-269142" y="4138984"/>
              <a:ext cx="2329160" cy="1134070"/>
            </a:xfrm>
            <a:prstGeom prst="chevron">
              <a:avLst>
                <a:gd name="adj" fmla="val 40761"/>
              </a:avLst>
            </a:prstGeom>
            <a:solidFill>
              <a:srgbClr val="E8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4" name="TextBox 23">
              <a:extLst>
                <a:ext uri="{FF2B5EF4-FFF2-40B4-BE49-F238E27FC236}">
                  <a16:creationId xmlns:a16="http://schemas.microsoft.com/office/drawing/2014/main" id="{59348FE7-F02B-CBF9-E801-6D902DB36384}"/>
                </a:ext>
              </a:extLst>
            </p:cNvPr>
            <p:cNvSpPr txBox="1"/>
            <p:nvPr/>
          </p:nvSpPr>
          <p:spPr>
            <a:xfrm>
              <a:off x="656520" y="4460378"/>
              <a:ext cx="418059" cy="584775"/>
            </a:xfrm>
            <a:prstGeom prst="rect">
              <a:avLst/>
            </a:prstGeom>
            <a:noFill/>
          </p:spPr>
          <p:txBody>
            <a:bodyPr wrap="square" rtlCol="0">
              <a:spAutoFit/>
            </a:bodyPr>
            <a:lstStyle/>
            <a:p>
              <a:r>
                <a:rPr lang="en-US" sz="3200" dirty="0">
                  <a:latin typeface="Broadway" panose="04040905080B02020502" pitchFamily="82" charset="0"/>
                </a:rPr>
                <a:t>4</a:t>
              </a:r>
              <a:endParaRPr lang="en-US" sz="2000" dirty="0">
                <a:latin typeface="Broadway" panose="04040905080B02020502" pitchFamily="82" charset="0"/>
              </a:endParaRPr>
            </a:p>
          </p:txBody>
        </p:sp>
      </p:grpSp>
    </p:spTree>
    <p:extLst>
      <p:ext uri="{BB962C8B-B14F-4D97-AF65-F5344CB8AC3E}">
        <p14:creationId xmlns:p14="http://schemas.microsoft.com/office/powerpoint/2010/main" val="28232203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1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035BF-B154-FAA7-B090-3B9C3B234E39}"/>
              </a:ext>
            </a:extLst>
          </p:cNvPr>
          <p:cNvSpPr>
            <a:spLocks noGrp="1"/>
          </p:cNvSpPr>
          <p:nvPr>
            <p:ph type="title"/>
          </p:nvPr>
        </p:nvSpPr>
        <p:spPr>
          <a:xfrm>
            <a:off x="801687" y="2560637"/>
            <a:ext cx="10972800" cy="1143000"/>
          </a:xfrm>
        </p:spPr>
        <p:txBody>
          <a:bodyPr/>
          <a:lstStyle/>
          <a:p>
            <a:r>
              <a:rPr lang="en-US" dirty="0">
                <a:latin typeface="Broadway" panose="04040905080B02020502" pitchFamily="82" charset="0"/>
              </a:rPr>
              <a:t>Thanks</a:t>
            </a:r>
            <a:r>
              <a:rPr lang="en-US" dirty="0"/>
              <a:t> </a:t>
            </a:r>
          </a:p>
        </p:txBody>
      </p:sp>
    </p:spTree>
    <p:extLst>
      <p:ext uri="{BB962C8B-B14F-4D97-AF65-F5344CB8AC3E}">
        <p14:creationId xmlns:p14="http://schemas.microsoft.com/office/powerpoint/2010/main" val="119577639"/>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2113</TotalTime>
  <Words>872</Words>
  <Application>Microsoft Office PowerPoint</Application>
  <PresentationFormat>Custom</PresentationFormat>
  <Paragraphs>106</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Aptos</vt:lpstr>
      <vt:lpstr>Arial</vt:lpstr>
      <vt:lpstr>Book Antiqua</vt:lpstr>
      <vt:lpstr>Broadway</vt:lpstr>
      <vt:lpstr>Calibri</vt:lpstr>
      <vt:lpstr>Gelasio</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alaa</dc:creator>
  <cp:keywords/>
  <dc:description>generated using python-pptx</dc:description>
  <cp:lastModifiedBy>alaa alzakla</cp:lastModifiedBy>
  <cp:revision>5</cp:revision>
  <dcterms:created xsi:type="dcterms:W3CDTF">2013-01-27T09:14:16Z</dcterms:created>
  <dcterms:modified xsi:type="dcterms:W3CDTF">2025-04-19T20:05:21Z</dcterms:modified>
  <cp:category/>
</cp:coreProperties>
</file>